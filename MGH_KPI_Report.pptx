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66" r:id="rId3"/>
    <p:sldId id="285" r:id="rId4"/>
    <p:sldId id="278" r:id="rId5"/>
    <p:sldId id="279" r:id="rId6"/>
    <p:sldId id="267" r:id="rId7"/>
    <p:sldId id="272" r:id="rId8"/>
    <p:sldId id="268" r:id="rId9"/>
    <p:sldId id="270" r:id="rId10"/>
    <p:sldId id="271" r:id="rId11"/>
    <p:sldId id="269" r:id="rId12"/>
    <p:sldId id="273" r:id="rId13"/>
    <p:sldId id="275" r:id="rId14"/>
    <p:sldId id="274" r:id="rId15"/>
    <p:sldId id="281" r:id="rId16"/>
    <p:sldId id="277" r:id="rId17"/>
    <p:sldId id="276" r:id="rId18"/>
    <p:sldId id="280" r:id="rId19"/>
    <p:sldId id="282" r:id="rId20"/>
    <p:sldId id="283" r:id="rId21"/>
    <p:sldId id="284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3AB7"/>
    <a:srgbClr val="3022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E144CD35-6812-379C-E073-6135263B0D13}"/>
              </a:ext>
            </a:extLst>
          </p:cNvPr>
          <p:cNvSpPr/>
          <p:nvPr/>
        </p:nvSpPr>
        <p:spPr>
          <a:xfrm>
            <a:off x="274320" y="33992"/>
            <a:ext cx="1229360" cy="2560320"/>
          </a:xfrm>
          <a:prstGeom prst="flowChartTerminator">
            <a:avLst/>
          </a:prstGeom>
          <a:gradFill flip="none" rotWithShape="1">
            <a:gsLst>
              <a:gs pos="0">
                <a:srgbClr val="673AB7">
                  <a:tint val="66000"/>
                  <a:satMod val="160000"/>
                </a:srgbClr>
              </a:gs>
              <a:gs pos="50000">
                <a:srgbClr val="673AB7">
                  <a:tint val="44500"/>
                  <a:satMod val="160000"/>
                </a:srgbClr>
              </a:gs>
              <a:gs pos="100000">
                <a:srgbClr val="673AB7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97137709-ACB0-64EA-5587-A0CD15743577}"/>
              </a:ext>
            </a:extLst>
          </p:cNvPr>
          <p:cNvSpPr/>
          <p:nvPr/>
        </p:nvSpPr>
        <p:spPr>
          <a:xfrm>
            <a:off x="1717040" y="560586"/>
            <a:ext cx="1229360" cy="2560320"/>
          </a:xfrm>
          <a:prstGeom prst="flowChartTerminator">
            <a:avLst/>
          </a:prstGeom>
          <a:gradFill flip="none" rotWithShape="1">
            <a:gsLst>
              <a:gs pos="0">
                <a:srgbClr val="673AB7">
                  <a:tint val="66000"/>
                  <a:satMod val="160000"/>
                </a:srgbClr>
              </a:gs>
              <a:gs pos="50000">
                <a:srgbClr val="673AB7">
                  <a:tint val="44500"/>
                  <a:satMod val="160000"/>
                </a:srgbClr>
              </a:gs>
              <a:gs pos="100000">
                <a:srgbClr val="673AB7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Woman using a tablet to work while her colleagues are using a laptop and documents">
            <a:extLst>
              <a:ext uri="{FF2B5EF4-FFF2-40B4-BE49-F238E27FC236}">
                <a16:creationId xmlns:a16="http://schemas.microsoft.com/office/drawing/2014/main" id="{76D42659-FF03-E878-8915-C756D7673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480" y="875546"/>
            <a:ext cx="4572000" cy="449072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ABCEEAC-C668-F0AF-A237-490965CEF2CA}"/>
              </a:ext>
            </a:extLst>
          </p:cNvPr>
          <p:cNvSpPr/>
          <p:nvPr/>
        </p:nvSpPr>
        <p:spPr>
          <a:xfrm>
            <a:off x="0" y="5770880"/>
            <a:ext cx="9144000" cy="1087120"/>
          </a:xfrm>
          <a:prstGeom prst="rect">
            <a:avLst/>
          </a:prstGeom>
          <a:solidFill>
            <a:srgbClr val="673A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CC785-0677-B45E-640C-EE2B86006668}"/>
              </a:ext>
            </a:extLst>
          </p:cNvPr>
          <p:cNvSpPr txBox="1"/>
          <p:nvPr/>
        </p:nvSpPr>
        <p:spPr>
          <a:xfrm>
            <a:off x="182880" y="1785294"/>
            <a:ext cx="428752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err="1">
                <a:solidFill>
                  <a:srgbClr val="3022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Mediversal</a:t>
            </a:r>
            <a:r>
              <a:rPr lang="en-IN" sz="4000" b="1" dirty="0">
                <a:solidFill>
                  <a:srgbClr val="3022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 Hospital KPI Report: Data-Driven Insights</a:t>
            </a:r>
          </a:p>
          <a:p>
            <a:r>
              <a:rPr lang="en-IN" dirty="0">
                <a:solidFill>
                  <a:srgbClr val="673AB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2011-2022 Patient Data Analysis</a:t>
            </a:r>
          </a:p>
          <a:p>
            <a:endParaRPr lang="en-IN" sz="4000" b="1" dirty="0">
              <a:solidFill>
                <a:srgbClr val="30225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6E9057-144B-DCD0-81D0-FACF6C7C504E}"/>
              </a:ext>
            </a:extLst>
          </p:cNvPr>
          <p:cNvSpPr/>
          <p:nvPr/>
        </p:nvSpPr>
        <p:spPr>
          <a:xfrm>
            <a:off x="182880" y="4338320"/>
            <a:ext cx="2235200" cy="538480"/>
          </a:xfrm>
          <a:prstGeom prst="roundRect">
            <a:avLst/>
          </a:prstGeom>
          <a:solidFill>
            <a:srgbClr val="673A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67A6820-3C5B-9773-8F2A-D19F8FC371A6}"/>
              </a:ext>
            </a:extLst>
          </p:cNvPr>
          <p:cNvSpPr/>
          <p:nvPr/>
        </p:nvSpPr>
        <p:spPr>
          <a:xfrm>
            <a:off x="2702560" y="4338320"/>
            <a:ext cx="2235200" cy="538480"/>
          </a:xfrm>
          <a:prstGeom prst="roundRect">
            <a:avLst/>
          </a:prstGeom>
          <a:noFill/>
          <a:ln w="1270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C1C373-8B9B-C850-10C9-4762A659460D}"/>
              </a:ext>
            </a:extLst>
          </p:cNvPr>
          <p:cNvSpPr txBox="1"/>
          <p:nvPr/>
        </p:nvSpPr>
        <p:spPr>
          <a:xfrm>
            <a:off x="284480" y="442289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Anshika Porwal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1D778C-1DDB-F616-7631-B9719C48DD34}"/>
              </a:ext>
            </a:extLst>
          </p:cNvPr>
          <p:cNvSpPr txBox="1"/>
          <p:nvPr/>
        </p:nvSpPr>
        <p:spPr>
          <a:xfrm>
            <a:off x="2702560" y="442289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Narrow" panose="020B0606020202030204" pitchFamily="34" charset="0"/>
              </a:rPr>
              <a:t>Analyst</a:t>
            </a:r>
          </a:p>
        </p:txBody>
      </p:sp>
    </p:spTree>
    <p:extLst>
      <p:ext uri="{BB962C8B-B14F-4D97-AF65-F5344CB8AC3E}">
        <p14:creationId xmlns:p14="http://schemas.microsoft.com/office/powerpoint/2010/main" val="1502647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27D965-A1B3-636C-C365-A191425B0592}"/>
              </a:ext>
            </a:extLst>
          </p:cNvPr>
          <p:cNvSpPr/>
          <p:nvPr/>
        </p:nvSpPr>
        <p:spPr>
          <a:xfrm>
            <a:off x="0" y="2463194"/>
            <a:ext cx="3891280" cy="3971111"/>
          </a:xfrm>
          <a:prstGeom prst="rect">
            <a:avLst/>
          </a:prstGeom>
          <a:solidFill>
            <a:srgbClr val="673A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027330-619A-70C4-D8BC-3612F1C5A548}"/>
              </a:ext>
            </a:extLst>
          </p:cNvPr>
          <p:cNvSpPr txBox="1"/>
          <p:nvPr/>
        </p:nvSpPr>
        <p:spPr>
          <a:xfrm>
            <a:off x="223520" y="264160"/>
            <a:ext cx="8422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err="1">
                <a:solidFill>
                  <a:srgbClr val="673AB7"/>
                </a:solidFill>
                <a:latin typeface="Arial Narrow" panose="020B0606020202030204" pitchFamily="34" charset="0"/>
              </a:rPr>
              <a:t>Mediversal</a:t>
            </a:r>
            <a:r>
              <a:rPr lang="en-IN" sz="3600" dirty="0">
                <a:solidFill>
                  <a:srgbClr val="673AB7"/>
                </a:solidFill>
                <a:latin typeface="Arial Narrow" panose="020B0606020202030204" pitchFamily="34" charset="0"/>
              </a:rPr>
              <a:t> Hospital KPI Report Introduction</a:t>
            </a:r>
            <a:endParaRPr lang="en-IN" sz="3600" b="1" dirty="0">
              <a:solidFill>
                <a:srgbClr val="673AB7"/>
              </a:solidFill>
              <a:latin typeface="Arial Narrow" panose="020B0606020202030204" pitchFamily="34" charset="0"/>
            </a:endParaRPr>
          </a:p>
        </p:txBody>
      </p:sp>
      <p:pic>
        <p:nvPicPr>
          <p:cNvPr id="2050" name="Picture 2" descr="Hispanic boss in a suit giving a talk about a work report to her work professional colleagues at the meeting room">
            <a:extLst>
              <a:ext uri="{FF2B5EF4-FFF2-40B4-BE49-F238E27FC236}">
                <a16:creationId xmlns:a16="http://schemas.microsoft.com/office/drawing/2014/main" id="{A8A3FB51-AE88-AD26-3257-F0EE77AE7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3040" y="2541270"/>
            <a:ext cx="5140960" cy="39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60BB4EC-0EF5-9B7C-7D53-1C1B0E26F4EB}"/>
              </a:ext>
            </a:extLst>
          </p:cNvPr>
          <p:cNvSpPr/>
          <p:nvPr/>
        </p:nvSpPr>
        <p:spPr>
          <a:xfrm>
            <a:off x="0" y="6685280"/>
            <a:ext cx="9144000" cy="172720"/>
          </a:xfrm>
          <a:prstGeom prst="rect">
            <a:avLst/>
          </a:prstGeom>
          <a:solidFill>
            <a:srgbClr val="673A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A3DC7D-5F84-AA9A-2623-460F43E3D32B}"/>
              </a:ext>
            </a:extLst>
          </p:cNvPr>
          <p:cNvSpPr txBox="1"/>
          <p:nvPr/>
        </p:nvSpPr>
        <p:spPr>
          <a:xfrm>
            <a:off x="477520" y="1208922"/>
            <a:ext cx="3413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673AB7"/>
                </a:solidFill>
                <a:latin typeface="Arial Narrow" panose="020B0606020202030204" pitchFamily="34" charset="0"/>
              </a:rPr>
              <a:t>Data Analysis</a:t>
            </a:r>
          </a:p>
          <a:p>
            <a:endParaRPr lang="en-IN" dirty="0">
              <a:latin typeface="Arial Narrow" panose="020B0606020202030204" pitchFamily="34" charset="0"/>
            </a:endParaRPr>
          </a:p>
          <a:p>
            <a:r>
              <a:rPr lang="en-US" sz="1200" dirty="0">
                <a:latin typeface="Arial Narrow" panose="020B0606020202030204" pitchFamily="34" charset="0"/>
              </a:rPr>
              <a:t>Utilize data to identify trends in hospital performance admissions, and patient care metrics for improved </a:t>
            </a:r>
            <a:r>
              <a:rPr lang="en-IN" sz="1200" dirty="0">
                <a:latin typeface="Arial Narrow" panose="020B0606020202030204" pitchFamily="34" charset="0"/>
              </a:rPr>
              <a:t>operations.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0D0466-C4B4-C931-4D8D-CC33E40721FD}"/>
              </a:ext>
            </a:extLst>
          </p:cNvPr>
          <p:cNvSpPr txBox="1"/>
          <p:nvPr/>
        </p:nvSpPr>
        <p:spPr>
          <a:xfrm>
            <a:off x="477520" y="3178505"/>
            <a:ext cx="34137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Strategic Decision-Making</a:t>
            </a:r>
          </a:p>
          <a:p>
            <a:endParaRPr lang="en-US" sz="12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Arial Narrow" panose="020B0606020202030204" pitchFamily="34" charset="0"/>
              </a:rPr>
              <a:t> Leverage insights from KPIs to guide strategic initiatives aimed at enhancing patient care and operational efficiency</a:t>
            </a:r>
            <a:endParaRPr lang="en-IN" sz="12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EA98DA-5921-5610-9779-18E332C7D13E}"/>
              </a:ext>
            </a:extLst>
          </p:cNvPr>
          <p:cNvSpPr txBox="1"/>
          <p:nvPr/>
        </p:nvSpPr>
        <p:spPr>
          <a:xfrm>
            <a:off x="477520" y="5147649"/>
            <a:ext cx="3413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Financial Assessment </a:t>
            </a:r>
          </a:p>
          <a:p>
            <a:endParaRPr lang="en-US" sz="12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Arial Narrow" panose="020B0606020202030204" pitchFamily="34" charset="0"/>
              </a:rPr>
              <a:t> Evaluate financial risks related to procedure costs and insurance coverage for sustainable hospital management.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BE4C77-4F2D-2CA8-C9FE-58F0609EDB6F}"/>
              </a:ext>
            </a:extLst>
          </p:cNvPr>
          <p:cNvSpPr txBox="1"/>
          <p:nvPr/>
        </p:nvSpPr>
        <p:spPr>
          <a:xfrm>
            <a:off x="5232400" y="1200093"/>
            <a:ext cx="3413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673AB7"/>
                </a:solidFill>
                <a:latin typeface="Arial Narrow" panose="020B0606020202030204" pitchFamily="34" charset="0"/>
              </a:rPr>
              <a:t>Operational Insights</a:t>
            </a:r>
          </a:p>
          <a:p>
            <a:endParaRPr lang="en-IN" dirty="0">
              <a:latin typeface="Arial Narrow" panose="020B0606020202030204" pitchFamily="34" charset="0"/>
            </a:endParaRPr>
          </a:p>
          <a:p>
            <a:r>
              <a:rPr lang="en-US" sz="1200" dirty="0">
                <a:latin typeface="Arial Narrow" panose="020B0606020202030204" pitchFamily="34" charset="0"/>
              </a:rPr>
              <a:t>Examine admission trends and patient demographics to optimize service offerings and resource allocation.</a:t>
            </a:r>
          </a:p>
          <a:p>
            <a:r>
              <a:rPr lang="en-IN" sz="1200" dirty="0">
                <a:latin typeface="Arial Narrow" panose="020B0606020202030204" pitchFamily="34" charset="0"/>
              </a:rPr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64A8DFD-902C-86E4-FD18-5E4299C5D766}"/>
              </a:ext>
            </a:extLst>
          </p:cNvPr>
          <p:cNvGrpSpPr/>
          <p:nvPr/>
        </p:nvGrpSpPr>
        <p:grpSpPr>
          <a:xfrm>
            <a:off x="0" y="1341120"/>
            <a:ext cx="530860" cy="530388"/>
            <a:chOff x="0" y="1341120"/>
            <a:chExt cx="530860" cy="530388"/>
          </a:xfrm>
        </p:grpSpPr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611782D4-1956-BEB9-3B08-8247ABAA8E87}"/>
                </a:ext>
              </a:extLst>
            </p:cNvPr>
            <p:cNvSpPr/>
            <p:nvPr/>
          </p:nvSpPr>
          <p:spPr>
            <a:xfrm>
              <a:off x="0" y="1341120"/>
              <a:ext cx="477520" cy="530388"/>
            </a:xfrm>
            <a:prstGeom prst="flowChartConnector">
              <a:avLst/>
            </a:prstGeom>
            <a:solidFill>
              <a:srgbClr val="673AB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88D2EF3-E8A7-5D1B-FE30-7717A0CF9F19}"/>
                </a:ext>
              </a:extLst>
            </p:cNvPr>
            <p:cNvSpPr txBox="1"/>
            <p:nvPr/>
          </p:nvSpPr>
          <p:spPr>
            <a:xfrm>
              <a:off x="53340" y="1425118"/>
              <a:ext cx="477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01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C161A13-E1FD-F0A6-38A0-E1AC12C1C182}"/>
              </a:ext>
            </a:extLst>
          </p:cNvPr>
          <p:cNvGrpSpPr/>
          <p:nvPr/>
        </p:nvGrpSpPr>
        <p:grpSpPr>
          <a:xfrm>
            <a:off x="0" y="3311456"/>
            <a:ext cx="530860" cy="530388"/>
            <a:chOff x="0" y="3311456"/>
            <a:chExt cx="530860" cy="530388"/>
          </a:xfrm>
        </p:grpSpPr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1D67FCB0-5191-17B7-A494-603945976145}"/>
                </a:ext>
              </a:extLst>
            </p:cNvPr>
            <p:cNvSpPr/>
            <p:nvPr/>
          </p:nvSpPr>
          <p:spPr>
            <a:xfrm>
              <a:off x="0" y="3311456"/>
              <a:ext cx="477520" cy="530388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1DE06BA-5A21-CFCE-1420-8F803998F84D}"/>
                </a:ext>
              </a:extLst>
            </p:cNvPr>
            <p:cNvSpPr txBox="1"/>
            <p:nvPr/>
          </p:nvSpPr>
          <p:spPr>
            <a:xfrm>
              <a:off x="53340" y="3395454"/>
              <a:ext cx="477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02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9071F31-A1C9-AF96-2141-BBEB3C7273D3}"/>
              </a:ext>
            </a:extLst>
          </p:cNvPr>
          <p:cNvGrpSpPr/>
          <p:nvPr/>
        </p:nvGrpSpPr>
        <p:grpSpPr>
          <a:xfrm>
            <a:off x="0" y="5344120"/>
            <a:ext cx="530860" cy="530388"/>
            <a:chOff x="0" y="3311456"/>
            <a:chExt cx="530860" cy="530388"/>
          </a:xfrm>
        </p:grpSpPr>
        <p:sp>
          <p:nvSpPr>
            <p:cNvPr id="17" name="Flowchart: Connector 16">
              <a:extLst>
                <a:ext uri="{FF2B5EF4-FFF2-40B4-BE49-F238E27FC236}">
                  <a16:creationId xmlns:a16="http://schemas.microsoft.com/office/drawing/2014/main" id="{2A5559E3-31CF-7EBF-2769-55EDCC576C96}"/>
                </a:ext>
              </a:extLst>
            </p:cNvPr>
            <p:cNvSpPr/>
            <p:nvPr/>
          </p:nvSpPr>
          <p:spPr>
            <a:xfrm>
              <a:off x="0" y="3311456"/>
              <a:ext cx="477520" cy="530388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E3C9ED8-2E05-4391-0EE7-305DB482CEF4}"/>
                </a:ext>
              </a:extLst>
            </p:cNvPr>
            <p:cNvSpPr txBox="1"/>
            <p:nvPr/>
          </p:nvSpPr>
          <p:spPr>
            <a:xfrm>
              <a:off x="53340" y="3395454"/>
              <a:ext cx="477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03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87429C6-DA2E-B5AE-7480-0352D4FC06FF}"/>
              </a:ext>
            </a:extLst>
          </p:cNvPr>
          <p:cNvGrpSpPr/>
          <p:nvPr/>
        </p:nvGrpSpPr>
        <p:grpSpPr>
          <a:xfrm>
            <a:off x="4691380" y="1435516"/>
            <a:ext cx="530860" cy="530388"/>
            <a:chOff x="0" y="1341120"/>
            <a:chExt cx="530860" cy="530388"/>
          </a:xfrm>
        </p:grpSpPr>
        <p:sp>
          <p:nvSpPr>
            <p:cNvPr id="20" name="Flowchart: Connector 19">
              <a:extLst>
                <a:ext uri="{FF2B5EF4-FFF2-40B4-BE49-F238E27FC236}">
                  <a16:creationId xmlns:a16="http://schemas.microsoft.com/office/drawing/2014/main" id="{65A061C7-66FA-76E5-6731-A56156180F14}"/>
                </a:ext>
              </a:extLst>
            </p:cNvPr>
            <p:cNvSpPr/>
            <p:nvPr/>
          </p:nvSpPr>
          <p:spPr>
            <a:xfrm>
              <a:off x="0" y="1341120"/>
              <a:ext cx="477520" cy="530388"/>
            </a:xfrm>
            <a:prstGeom prst="flowChartConnector">
              <a:avLst/>
            </a:prstGeom>
            <a:solidFill>
              <a:srgbClr val="673AB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976C61A-9184-0A56-14D8-C93F925A5BD0}"/>
                </a:ext>
              </a:extLst>
            </p:cNvPr>
            <p:cNvSpPr txBox="1"/>
            <p:nvPr/>
          </p:nvSpPr>
          <p:spPr>
            <a:xfrm>
              <a:off x="53340" y="1425118"/>
              <a:ext cx="477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1112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EA03B7-5909-CBAA-6E9C-FA46753A4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863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4B53B5-887E-043B-8E11-1FB37DEC3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5032"/>
            <a:ext cx="9144000" cy="518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979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BF9503-DC83-498A-FD31-26B586E94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1009"/>
            <a:ext cx="9144000" cy="517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553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3A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5EC29-58BA-4CAB-3B0A-C98D85714D9A}"/>
              </a:ext>
            </a:extLst>
          </p:cNvPr>
          <p:cNvSpPr txBox="1"/>
          <p:nvPr/>
        </p:nvSpPr>
        <p:spPr>
          <a:xfrm>
            <a:off x="345440" y="121920"/>
            <a:ext cx="5059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Arial Narrow" panose="020B0606020202030204" pitchFamily="34" charset="0"/>
              </a:rPr>
              <a:t>Key Findings from Admission Data Overview</a:t>
            </a:r>
          </a:p>
        </p:txBody>
      </p:sp>
      <p:pic>
        <p:nvPicPr>
          <p:cNvPr id="3076" name="Picture 4" descr="Representation of user experience and interface design">
            <a:extLst>
              <a:ext uri="{FF2B5EF4-FFF2-40B4-BE49-F238E27FC236}">
                <a16:creationId xmlns:a16="http://schemas.microsoft.com/office/drawing/2014/main" id="{5ED42553-A1E6-3351-D893-1995E2F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26476"/>
            <a:ext cx="4572000" cy="3906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E48E8F-887F-B1ED-A040-A0A5E1F3E220}"/>
              </a:ext>
            </a:extLst>
          </p:cNvPr>
          <p:cNvSpPr txBox="1"/>
          <p:nvPr/>
        </p:nvSpPr>
        <p:spPr>
          <a:xfrm>
            <a:off x="5262880" y="1402080"/>
            <a:ext cx="388112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Increase in Admissions</a:t>
            </a:r>
          </a:p>
          <a:p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Arial Narrow" panose="020B0606020202030204" pitchFamily="34" charset="0"/>
              </a:rPr>
              <a:t>The hospital experienced a significant increase of 28,000 admissions, reflecting a 13% growth year-over-year, indicating a rising demand for healthcare services and the need for resource planning.</a:t>
            </a:r>
          </a:p>
          <a:p>
            <a:endParaRPr lang="en-US" sz="12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 sz="12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 sz="12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High Readmission Rate</a:t>
            </a:r>
          </a:p>
          <a:p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Arial Narrow" panose="020B0606020202030204" pitchFamily="34" charset="0"/>
              </a:rPr>
              <a:t>With 88% of the analyzed 974 patients being readmitted, this highlights concerns about chronic condition management and the necessity for developing effective discharge planning and follow-up care initiatives.</a:t>
            </a:r>
          </a:p>
          <a:p>
            <a:endParaRPr lang="en-US" sz="12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 sz="12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 sz="12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Growth by Encounter Type</a:t>
            </a:r>
          </a:p>
          <a:p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Arial Narrow" panose="020B0606020202030204" pitchFamily="34" charset="0"/>
              </a:rPr>
              <a:t>Ambulatory and outpatient care segments grew notably, representing opportunities to enhance service offerings and invest in related healthcare programs to address patient needs and boost satisfaction.</a:t>
            </a:r>
          </a:p>
          <a:p>
            <a:endParaRPr lang="en-IN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0C63A00-A3FA-FF2D-517B-D3FFAA84E8B1}"/>
              </a:ext>
            </a:extLst>
          </p:cNvPr>
          <p:cNvGrpSpPr/>
          <p:nvPr/>
        </p:nvGrpSpPr>
        <p:grpSpPr>
          <a:xfrm>
            <a:off x="4807585" y="3395454"/>
            <a:ext cx="530860" cy="530388"/>
            <a:chOff x="0" y="3311456"/>
            <a:chExt cx="530860" cy="530388"/>
          </a:xfrm>
        </p:grpSpPr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BD4C0538-DC9B-DCF4-27AF-6F0C653259CE}"/>
                </a:ext>
              </a:extLst>
            </p:cNvPr>
            <p:cNvSpPr/>
            <p:nvPr/>
          </p:nvSpPr>
          <p:spPr>
            <a:xfrm>
              <a:off x="0" y="3311456"/>
              <a:ext cx="477520" cy="530388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B534089-1AA0-2D9D-89F3-E7EFCC6ADEFA}"/>
                </a:ext>
              </a:extLst>
            </p:cNvPr>
            <p:cNvSpPr txBox="1"/>
            <p:nvPr/>
          </p:nvSpPr>
          <p:spPr>
            <a:xfrm>
              <a:off x="53340" y="3395454"/>
              <a:ext cx="477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02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BA16CFC-6A57-B8FD-B940-1FD4DE8B6D5E}"/>
              </a:ext>
            </a:extLst>
          </p:cNvPr>
          <p:cNvGrpSpPr/>
          <p:nvPr/>
        </p:nvGrpSpPr>
        <p:grpSpPr>
          <a:xfrm>
            <a:off x="4829810" y="1596088"/>
            <a:ext cx="530860" cy="530388"/>
            <a:chOff x="0" y="3311456"/>
            <a:chExt cx="530860" cy="530388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82715AD5-A04B-61A4-98C6-BEA130C7B7BE}"/>
                </a:ext>
              </a:extLst>
            </p:cNvPr>
            <p:cNvSpPr/>
            <p:nvPr/>
          </p:nvSpPr>
          <p:spPr>
            <a:xfrm>
              <a:off x="0" y="3311456"/>
              <a:ext cx="477520" cy="530388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9D824C2-E29C-3E25-AC17-2A2550C9924F}"/>
                </a:ext>
              </a:extLst>
            </p:cNvPr>
            <p:cNvSpPr txBox="1"/>
            <p:nvPr/>
          </p:nvSpPr>
          <p:spPr>
            <a:xfrm>
              <a:off x="53340" y="3395454"/>
              <a:ext cx="477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01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3F25B26-4718-D520-76BE-2C7717C7F221}"/>
              </a:ext>
            </a:extLst>
          </p:cNvPr>
          <p:cNvGrpSpPr/>
          <p:nvPr/>
        </p:nvGrpSpPr>
        <p:grpSpPr>
          <a:xfrm>
            <a:off x="4801870" y="5256407"/>
            <a:ext cx="530860" cy="530388"/>
            <a:chOff x="0" y="3311456"/>
            <a:chExt cx="530860" cy="530388"/>
          </a:xfrm>
        </p:grpSpPr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05ACCE21-0D47-384F-6BE9-C3D2AB894CBE}"/>
                </a:ext>
              </a:extLst>
            </p:cNvPr>
            <p:cNvSpPr/>
            <p:nvPr/>
          </p:nvSpPr>
          <p:spPr>
            <a:xfrm>
              <a:off x="0" y="3311456"/>
              <a:ext cx="477520" cy="530388"/>
            </a:xfrm>
            <a:prstGeom prst="flowChartConnector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77F0E5C-19B6-5243-A3D3-CC5066EEC290}"/>
                </a:ext>
              </a:extLst>
            </p:cNvPr>
            <p:cNvSpPr txBox="1"/>
            <p:nvPr/>
          </p:nvSpPr>
          <p:spPr>
            <a:xfrm>
              <a:off x="53340" y="3395454"/>
              <a:ext cx="477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4988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3C3D1E-1E85-C07D-C1EC-BB2288C4ECA5}"/>
              </a:ext>
            </a:extLst>
          </p:cNvPr>
          <p:cNvSpPr txBox="1"/>
          <p:nvPr/>
        </p:nvSpPr>
        <p:spPr>
          <a:xfrm>
            <a:off x="325120" y="135942"/>
            <a:ext cx="728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673AB7"/>
                </a:solidFill>
                <a:latin typeface="Arial Narrow" panose="020B0606020202030204" pitchFamily="34" charset="0"/>
              </a:rPr>
              <a:t>Admission Trends By Encounter Types</a:t>
            </a:r>
            <a:endParaRPr lang="en-IN" sz="3600" b="1" dirty="0">
              <a:solidFill>
                <a:srgbClr val="673AB7"/>
              </a:solidFill>
              <a:latin typeface="Arial Narrow" panose="020B0606020202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8CD172-F577-50E5-819F-7D6BC5A1F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05" y="782273"/>
            <a:ext cx="7630590" cy="586821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F80F0-424B-0E1B-F67D-D2550BB058D3}"/>
              </a:ext>
            </a:extLst>
          </p:cNvPr>
          <p:cNvSpPr/>
          <p:nvPr/>
        </p:nvSpPr>
        <p:spPr>
          <a:xfrm>
            <a:off x="0" y="6685280"/>
            <a:ext cx="9144000" cy="172720"/>
          </a:xfrm>
          <a:prstGeom prst="rect">
            <a:avLst/>
          </a:prstGeom>
          <a:solidFill>
            <a:srgbClr val="673A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674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3CBAC4-40D6-7F16-607A-815F354F1D2F}"/>
              </a:ext>
            </a:extLst>
          </p:cNvPr>
          <p:cNvSpPr/>
          <p:nvPr/>
        </p:nvSpPr>
        <p:spPr>
          <a:xfrm>
            <a:off x="0" y="6685280"/>
            <a:ext cx="9144000" cy="172720"/>
          </a:xfrm>
          <a:prstGeom prst="rect">
            <a:avLst/>
          </a:prstGeom>
          <a:solidFill>
            <a:srgbClr val="673A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2124C5-57F1-B89A-DA2E-4FEE8D328130}"/>
              </a:ext>
            </a:extLst>
          </p:cNvPr>
          <p:cNvSpPr txBox="1"/>
          <p:nvPr/>
        </p:nvSpPr>
        <p:spPr>
          <a:xfrm>
            <a:off x="223520" y="20320"/>
            <a:ext cx="8422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673AB7"/>
                </a:solidFill>
                <a:latin typeface="Arial Narrow" panose="020B0606020202030204" pitchFamily="34" charset="0"/>
              </a:rPr>
              <a:t>Growth In Patient Admission Analysis</a:t>
            </a:r>
            <a:endParaRPr lang="en-IN" sz="3600" b="1" dirty="0">
              <a:solidFill>
                <a:srgbClr val="673AB7"/>
              </a:solidFill>
              <a:latin typeface="Arial Narrow" panose="020B0606020202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99833E-5E14-DA67-4E8B-DBCD0A8A2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4891"/>
            <a:ext cx="9144000" cy="613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169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879CBFA-E5F3-7B3C-579F-0B006B47E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630"/>
            <a:ext cx="9072880" cy="653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37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051C4E-8A46-D4F1-D0C1-00F2F52BE081}"/>
              </a:ext>
            </a:extLst>
          </p:cNvPr>
          <p:cNvSpPr txBox="1"/>
          <p:nvPr/>
        </p:nvSpPr>
        <p:spPr>
          <a:xfrm>
            <a:off x="325120" y="135942"/>
            <a:ext cx="728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673AB7"/>
                </a:solidFill>
                <a:latin typeface="Arial Narrow" panose="020B0606020202030204" pitchFamily="34" charset="0"/>
              </a:rPr>
              <a:t>High Readmission Rates And Implications</a:t>
            </a:r>
            <a:endParaRPr lang="en-IN" sz="3600" b="1" dirty="0">
              <a:solidFill>
                <a:srgbClr val="673AB7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FC0DA814-7B8E-4323-8A58-A67907FE9C1A}"/>
              </a:ext>
            </a:extLst>
          </p:cNvPr>
          <p:cNvSpPr/>
          <p:nvPr/>
        </p:nvSpPr>
        <p:spPr>
          <a:xfrm>
            <a:off x="187960" y="1321107"/>
            <a:ext cx="1330960" cy="1310640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051B99AE-9DFE-47FF-395F-9C4DF204A4C5}"/>
              </a:ext>
            </a:extLst>
          </p:cNvPr>
          <p:cNvSpPr/>
          <p:nvPr/>
        </p:nvSpPr>
        <p:spPr>
          <a:xfrm>
            <a:off x="2716531" y="1338689"/>
            <a:ext cx="1330960" cy="1310640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B86A3C8-966D-0A50-C76E-0C13705ACAC7}"/>
              </a:ext>
            </a:extLst>
          </p:cNvPr>
          <p:cNvSpPr/>
          <p:nvPr/>
        </p:nvSpPr>
        <p:spPr>
          <a:xfrm>
            <a:off x="5053966" y="1309734"/>
            <a:ext cx="1330960" cy="1310640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5800C7DE-C157-96A3-CEAD-5599FCF834DB}"/>
              </a:ext>
            </a:extLst>
          </p:cNvPr>
          <p:cNvSpPr/>
          <p:nvPr/>
        </p:nvSpPr>
        <p:spPr>
          <a:xfrm>
            <a:off x="7429500" y="1321107"/>
            <a:ext cx="1330960" cy="1310640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91DB04-454A-DEFA-F28F-277A33A47BAC}"/>
              </a:ext>
            </a:extLst>
          </p:cNvPr>
          <p:cNvSpPr txBox="1"/>
          <p:nvPr/>
        </p:nvSpPr>
        <p:spPr>
          <a:xfrm>
            <a:off x="45720" y="2722294"/>
            <a:ext cx="165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302254"/>
                </a:solidFill>
                <a:latin typeface="Arial Narrow" panose="020B0606020202030204" pitchFamily="34" charset="0"/>
              </a:rPr>
              <a:t>Problem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D68229-62CC-ACC4-7F2E-7C9B377453E0}"/>
              </a:ext>
            </a:extLst>
          </p:cNvPr>
          <p:cNvSpPr txBox="1"/>
          <p:nvPr/>
        </p:nvSpPr>
        <p:spPr>
          <a:xfrm>
            <a:off x="2496820" y="2729467"/>
            <a:ext cx="165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673AB7"/>
                </a:solidFill>
                <a:latin typeface="Arial Narrow" panose="020B0606020202030204" pitchFamily="34" charset="0"/>
              </a:rPr>
              <a:t>Problem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A88D5A-0D39-2F1C-3627-C9B9591E6AFB}"/>
              </a:ext>
            </a:extLst>
          </p:cNvPr>
          <p:cNvSpPr txBox="1"/>
          <p:nvPr/>
        </p:nvSpPr>
        <p:spPr>
          <a:xfrm>
            <a:off x="4891406" y="2729467"/>
            <a:ext cx="165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302254"/>
                </a:solidFill>
                <a:latin typeface="Arial Narrow" panose="020B0606020202030204" pitchFamily="34" charset="0"/>
              </a:rPr>
              <a:t>Problem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3D08BD-412C-ECDC-EC33-E185E55B0762}"/>
              </a:ext>
            </a:extLst>
          </p:cNvPr>
          <p:cNvSpPr txBox="1"/>
          <p:nvPr/>
        </p:nvSpPr>
        <p:spPr>
          <a:xfrm>
            <a:off x="7266940" y="2722294"/>
            <a:ext cx="165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673AB7"/>
                </a:solidFill>
                <a:latin typeface="Arial Narrow" panose="020B0606020202030204" pitchFamily="34" charset="0"/>
              </a:rPr>
              <a:t>Problem 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39787D-FF7F-B4B6-A49D-1BA2A76D2468}"/>
              </a:ext>
            </a:extLst>
          </p:cNvPr>
          <p:cNvSpPr/>
          <p:nvPr/>
        </p:nvSpPr>
        <p:spPr>
          <a:xfrm>
            <a:off x="0" y="3168134"/>
            <a:ext cx="2123440" cy="975360"/>
          </a:xfrm>
          <a:prstGeom prst="rec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CDFDEF-A63B-3835-22B4-3230D40AF875}"/>
              </a:ext>
            </a:extLst>
          </p:cNvPr>
          <p:cNvSpPr/>
          <p:nvPr/>
        </p:nvSpPr>
        <p:spPr>
          <a:xfrm>
            <a:off x="2320291" y="3184208"/>
            <a:ext cx="2123440" cy="975360"/>
          </a:xfrm>
          <a:prstGeom prst="rec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BD1357-0A82-8D48-5B98-AB502270E812}"/>
              </a:ext>
            </a:extLst>
          </p:cNvPr>
          <p:cNvSpPr/>
          <p:nvPr/>
        </p:nvSpPr>
        <p:spPr>
          <a:xfrm>
            <a:off x="4700271" y="3184208"/>
            <a:ext cx="2123440" cy="975360"/>
          </a:xfrm>
          <a:prstGeom prst="rec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388056-1B2B-1685-A8F4-9695ABD746E2}"/>
              </a:ext>
            </a:extLst>
          </p:cNvPr>
          <p:cNvSpPr/>
          <p:nvPr/>
        </p:nvSpPr>
        <p:spPr>
          <a:xfrm>
            <a:off x="6995160" y="3157856"/>
            <a:ext cx="2123440" cy="975360"/>
          </a:xfrm>
          <a:prstGeom prst="rec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B9B645-EEF5-E8F3-1096-AB22C2CAD7F2}"/>
              </a:ext>
            </a:extLst>
          </p:cNvPr>
          <p:cNvSpPr/>
          <p:nvPr/>
        </p:nvSpPr>
        <p:spPr>
          <a:xfrm>
            <a:off x="0" y="4324588"/>
            <a:ext cx="2123440" cy="729119"/>
          </a:xfrm>
          <a:prstGeom prst="rec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6F10A4-8CF7-DE46-03EB-94E834EDF2EC}"/>
              </a:ext>
            </a:extLst>
          </p:cNvPr>
          <p:cNvSpPr/>
          <p:nvPr/>
        </p:nvSpPr>
        <p:spPr>
          <a:xfrm>
            <a:off x="2320291" y="4324587"/>
            <a:ext cx="2123440" cy="729119"/>
          </a:xfrm>
          <a:prstGeom prst="rec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720326-EC13-571E-66BF-331B904D1ED2}"/>
              </a:ext>
            </a:extLst>
          </p:cNvPr>
          <p:cNvSpPr/>
          <p:nvPr/>
        </p:nvSpPr>
        <p:spPr>
          <a:xfrm>
            <a:off x="4693920" y="4319170"/>
            <a:ext cx="2123440" cy="729119"/>
          </a:xfrm>
          <a:prstGeom prst="rec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31DF09-6BB8-3CC9-B41F-E64FBD83812B}"/>
              </a:ext>
            </a:extLst>
          </p:cNvPr>
          <p:cNvSpPr/>
          <p:nvPr/>
        </p:nvSpPr>
        <p:spPr>
          <a:xfrm>
            <a:off x="6995160" y="4324587"/>
            <a:ext cx="2123440" cy="729119"/>
          </a:xfrm>
          <a:prstGeom prst="rec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9E0CCE-8ED7-524C-C1C9-8FFFF561C441}"/>
              </a:ext>
            </a:extLst>
          </p:cNvPr>
          <p:cNvSpPr/>
          <p:nvPr/>
        </p:nvSpPr>
        <p:spPr>
          <a:xfrm>
            <a:off x="0" y="5381227"/>
            <a:ext cx="2123440" cy="729119"/>
          </a:xfrm>
          <a:prstGeom prst="rec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0B13EA-0B51-697A-2379-F4461EA2B409}"/>
              </a:ext>
            </a:extLst>
          </p:cNvPr>
          <p:cNvSpPr/>
          <p:nvPr/>
        </p:nvSpPr>
        <p:spPr>
          <a:xfrm>
            <a:off x="2320291" y="5395573"/>
            <a:ext cx="2123440" cy="729119"/>
          </a:xfrm>
          <a:prstGeom prst="rec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1EAC2E-8780-2CFF-7271-E911B85AA2C0}"/>
              </a:ext>
            </a:extLst>
          </p:cNvPr>
          <p:cNvSpPr/>
          <p:nvPr/>
        </p:nvSpPr>
        <p:spPr>
          <a:xfrm>
            <a:off x="4700271" y="5415893"/>
            <a:ext cx="2123440" cy="729119"/>
          </a:xfrm>
          <a:prstGeom prst="rec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A6278C-F2BF-4380-7AE6-31BBA1C339A3}"/>
              </a:ext>
            </a:extLst>
          </p:cNvPr>
          <p:cNvSpPr/>
          <p:nvPr/>
        </p:nvSpPr>
        <p:spPr>
          <a:xfrm>
            <a:off x="6995160" y="5430239"/>
            <a:ext cx="2123440" cy="729119"/>
          </a:xfrm>
          <a:prstGeom prst="rect">
            <a:avLst/>
          </a:prstGeom>
          <a:solidFill>
            <a:schemeClr val="bg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B5F8AE-202B-2724-EDB5-449D7C051AE2}"/>
              </a:ext>
            </a:extLst>
          </p:cNvPr>
          <p:cNvSpPr txBox="1"/>
          <p:nvPr/>
        </p:nvSpPr>
        <p:spPr>
          <a:xfrm>
            <a:off x="5080" y="3419146"/>
            <a:ext cx="2098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High Readmission Rates Indicate Treatment Issues</a:t>
            </a:r>
            <a:endParaRPr lang="en-I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34335C-4F11-4DB3-D089-D29A48CEA38C}"/>
              </a:ext>
            </a:extLst>
          </p:cNvPr>
          <p:cNvSpPr txBox="1"/>
          <p:nvPr/>
        </p:nvSpPr>
        <p:spPr>
          <a:xfrm>
            <a:off x="2275840" y="3282118"/>
            <a:ext cx="2098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Increased Financial Strain on Hospital Resources</a:t>
            </a:r>
            <a:endParaRPr lang="en-I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40182F-D6FC-D6D0-9D62-AF2B30F429AC}"/>
              </a:ext>
            </a:extLst>
          </p:cNvPr>
          <p:cNvSpPr txBox="1"/>
          <p:nvPr/>
        </p:nvSpPr>
        <p:spPr>
          <a:xfrm>
            <a:off x="4670426" y="3275509"/>
            <a:ext cx="2098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Impact on Patient Satisfaction and Care Quality</a:t>
            </a:r>
            <a:endParaRPr lang="en-I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F12708-C931-8E31-0875-79C0FE27B9F2}"/>
              </a:ext>
            </a:extLst>
          </p:cNvPr>
          <p:cNvSpPr txBox="1"/>
          <p:nvPr/>
        </p:nvSpPr>
        <p:spPr>
          <a:xfrm>
            <a:off x="7045960" y="3341063"/>
            <a:ext cx="2098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Regulatory Scrutiny and Potential Penalties</a:t>
            </a:r>
            <a:endParaRPr lang="en-I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C24C89-626E-5203-1A2F-32DF2946C3D5}"/>
              </a:ext>
            </a:extLst>
          </p:cNvPr>
          <p:cNvSpPr txBox="1"/>
          <p:nvPr/>
        </p:nvSpPr>
        <p:spPr>
          <a:xfrm>
            <a:off x="-4443" y="4452896"/>
            <a:ext cx="2098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Potential inadequacies in initial treatments noted</a:t>
            </a:r>
            <a:endParaRPr lang="en-I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0AB254-4EEC-8A7B-7B74-1F571B6CA597}"/>
              </a:ext>
            </a:extLst>
          </p:cNvPr>
          <p:cNvSpPr txBox="1"/>
          <p:nvPr/>
        </p:nvSpPr>
        <p:spPr>
          <a:xfrm>
            <a:off x="-34289" y="5536893"/>
            <a:ext cx="2098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Chronic conditions may not be appropriately managed</a:t>
            </a:r>
            <a:endParaRPr lang="en-I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3753FA-8039-D73C-E58D-5C6C1A62114F}"/>
              </a:ext>
            </a:extLst>
          </p:cNvPr>
          <p:cNvSpPr txBox="1"/>
          <p:nvPr/>
        </p:nvSpPr>
        <p:spPr>
          <a:xfrm>
            <a:off x="2286000" y="4452895"/>
            <a:ext cx="2098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Readmissions contribute to higher operational costs</a:t>
            </a:r>
            <a:endParaRPr lang="en-I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E7A66E-4FFB-8531-20C1-C8C6C88C2226}"/>
              </a:ext>
            </a:extLst>
          </p:cNvPr>
          <p:cNvSpPr txBox="1"/>
          <p:nvPr/>
        </p:nvSpPr>
        <p:spPr>
          <a:xfrm>
            <a:off x="2294889" y="5563965"/>
            <a:ext cx="2098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Limited resources stretched due to repeated visits</a:t>
            </a:r>
            <a:endParaRPr lang="en-I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AD399F-59AC-C16D-A6A8-F00DFD3F7BDF}"/>
              </a:ext>
            </a:extLst>
          </p:cNvPr>
          <p:cNvSpPr txBox="1"/>
          <p:nvPr/>
        </p:nvSpPr>
        <p:spPr>
          <a:xfrm>
            <a:off x="4704080" y="4452896"/>
            <a:ext cx="2098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Frequent readmissions may lower satisfaction scores</a:t>
            </a:r>
            <a:endParaRPr lang="en-I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46DB52-95EC-F701-EFB1-ED72D9097494}"/>
              </a:ext>
            </a:extLst>
          </p:cNvPr>
          <p:cNvSpPr txBox="1"/>
          <p:nvPr/>
        </p:nvSpPr>
        <p:spPr>
          <a:xfrm>
            <a:off x="4725671" y="5563965"/>
            <a:ext cx="2098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Patients may perceive care quality as inadequate</a:t>
            </a:r>
            <a:endParaRPr lang="en-I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E5C1C1-6042-42A2-F2B5-F21C9B62B57C}"/>
              </a:ext>
            </a:extLst>
          </p:cNvPr>
          <p:cNvSpPr txBox="1"/>
          <p:nvPr/>
        </p:nvSpPr>
        <p:spPr>
          <a:xfrm>
            <a:off x="6921500" y="4452896"/>
            <a:ext cx="2098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High rates can lead to penalties from insurers</a:t>
            </a:r>
            <a:endParaRPr lang="en-I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0E2D3E-9DD0-0F7A-F74D-67131F6D11A6}"/>
              </a:ext>
            </a:extLst>
          </p:cNvPr>
          <p:cNvSpPr txBox="1"/>
          <p:nvPr/>
        </p:nvSpPr>
        <p:spPr>
          <a:xfrm>
            <a:off x="7080251" y="5563965"/>
            <a:ext cx="2098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Increased scrutiny from regulatory bodies expected</a:t>
            </a:r>
            <a:endParaRPr lang="en-I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7A354B9-3A64-B058-8D2F-BE4FEEF0D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6079" y="1209319"/>
            <a:ext cx="2449830" cy="152014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5A3FE3E-FF47-2FE5-AD8A-038407EF8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0" y="1209319"/>
            <a:ext cx="1657350" cy="156410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2CCA1CE-CFA7-220A-21A2-FECA5C90D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671" y="1169630"/>
            <a:ext cx="1900813" cy="158447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4A4CC56-58C3-A317-46B3-BFB47C8F1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7467" y="1084167"/>
            <a:ext cx="1980824" cy="174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08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C3D23E-3BB4-D0E9-984B-BF5BD86506C7}"/>
              </a:ext>
            </a:extLst>
          </p:cNvPr>
          <p:cNvSpPr/>
          <p:nvPr/>
        </p:nvSpPr>
        <p:spPr>
          <a:xfrm>
            <a:off x="0" y="6685280"/>
            <a:ext cx="9144000" cy="172720"/>
          </a:xfrm>
          <a:prstGeom prst="rect">
            <a:avLst/>
          </a:prstGeom>
          <a:solidFill>
            <a:srgbClr val="673A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B4FE02-00D0-9D48-F16E-F7A1A15B578E}"/>
              </a:ext>
            </a:extLst>
          </p:cNvPr>
          <p:cNvSpPr txBox="1"/>
          <p:nvPr/>
        </p:nvSpPr>
        <p:spPr>
          <a:xfrm>
            <a:off x="0" y="135942"/>
            <a:ext cx="44005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673AB7"/>
                </a:solidFill>
                <a:latin typeface="Arial Narrow" panose="020B0606020202030204" pitchFamily="34" charset="0"/>
              </a:rPr>
              <a:t>Strategic Recommendations for Admissions Growth</a:t>
            </a:r>
            <a:endParaRPr lang="en-IN" sz="3600" b="1" dirty="0">
              <a:solidFill>
                <a:srgbClr val="673AB7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2D97154-7B08-A6B9-E8C9-410F10CA267A}"/>
              </a:ext>
            </a:extLst>
          </p:cNvPr>
          <p:cNvGrpSpPr/>
          <p:nvPr/>
        </p:nvGrpSpPr>
        <p:grpSpPr>
          <a:xfrm>
            <a:off x="106680" y="2146656"/>
            <a:ext cx="3891280" cy="1015663"/>
            <a:chOff x="0" y="917286"/>
            <a:chExt cx="3891280" cy="101566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07D334A-2A72-C5B0-C578-8C766F6D72C8}"/>
                </a:ext>
              </a:extLst>
            </p:cNvPr>
            <p:cNvSpPr txBox="1"/>
            <p:nvPr/>
          </p:nvSpPr>
          <p:spPr>
            <a:xfrm>
              <a:off x="477520" y="917286"/>
              <a:ext cx="341376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Readmission Programs</a:t>
              </a:r>
            </a:p>
            <a:p>
              <a:endParaRPr lang="en-IN" dirty="0">
                <a:latin typeface="Arial Narrow" panose="020B0606020202030204" pitchFamily="34" charset="0"/>
              </a:endParaRPr>
            </a:p>
            <a:p>
              <a:r>
                <a:rPr lang="en-US" sz="1200" dirty="0">
                  <a:latin typeface="Arial Narrow" panose="020B0606020202030204" pitchFamily="34" charset="0"/>
                </a:rPr>
                <a:t> Implement follow-up care to reduce high readmission rates.</a:t>
              </a:r>
              <a:endParaRPr lang="en-IN" sz="1200" dirty="0">
                <a:latin typeface="Arial Narrow" panose="020B060602020203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4669EBD-3258-7878-0C35-A40112D12AB2}"/>
                </a:ext>
              </a:extLst>
            </p:cNvPr>
            <p:cNvGrpSpPr/>
            <p:nvPr/>
          </p:nvGrpSpPr>
          <p:grpSpPr>
            <a:xfrm>
              <a:off x="0" y="1159923"/>
              <a:ext cx="530860" cy="530388"/>
              <a:chOff x="0" y="1341120"/>
              <a:chExt cx="530860" cy="530388"/>
            </a:xfrm>
          </p:grpSpPr>
          <p:sp>
            <p:nvSpPr>
              <p:cNvPr id="6" name="Flowchart: Connector 5">
                <a:extLst>
                  <a:ext uri="{FF2B5EF4-FFF2-40B4-BE49-F238E27FC236}">
                    <a16:creationId xmlns:a16="http://schemas.microsoft.com/office/drawing/2014/main" id="{A87C9BBF-56B2-A994-3132-4F456BF7877D}"/>
                  </a:ext>
                </a:extLst>
              </p:cNvPr>
              <p:cNvSpPr/>
              <p:nvPr/>
            </p:nvSpPr>
            <p:spPr>
              <a:xfrm>
                <a:off x="0" y="1341120"/>
                <a:ext cx="477520" cy="530388"/>
              </a:xfrm>
              <a:prstGeom prst="flowChartConnector">
                <a:avLst/>
              </a:prstGeom>
              <a:solidFill>
                <a:srgbClr val="673AB7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1F7051-5247-6461-5D0F-A0F00FC82B3A}"/>
                  </a:ext>
                </a:extLst>
              </p:cNvPr>
              <p:cNvSpPr txBox="1"/>
              <p:nvPr/>
            </p:nvSpPr>
            <p:spPr>
              <a:xfrm>
                <a:off x="53340" y="1425118"/>
                <a:ext cx="477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01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2EB7DDB-8E7E-2B22-4323-FB0E16DD256A}"/>
              </a:ext>
            </a:extLst>
          </p:cNvPr>
          <p:cNvGrpSpPr/>
          <p:nvPr/>
        </p:nvGrpSpPr>
        <p:grpSpPr>
          <a:xfrm>
            <a:off x="53340" y="3730800"/>
            <a:ext cx="3864610" cy="1015663"/>
            <a:chOff x="26670" y="2921168"/>
            <a:chExt cx="3864610" cy="101566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CFC3817-66B5-BF26-09D1-416B9799D8C0}"/>
                </a:ext>
              </a:extLst>
            </p:cNvPr>
            <p:cNvSpPr txBox="1"/>
            <p:nvPr/>
          </p:nvSpPr>
          <p:spPr>
            <a:xfrm>
              <a:off x="477520" y="2921168"/>
              <a:ext cx="341376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Ambulatory Care</a:t>
              </a:r>
            </a:p>
            <a:p>
              <a:endParaRPr lang="en-IN" dirty="0">
                <a:latin typeface="Arial Narrow" panose="020B0606020202030204" pitchFamily="34" charset="0"/>
              </a:endParaRPr>
            </a:p>
            <a:p>
              <a:r>
                <a:rPr lang="en-US" sz="1200" dirty="0">
                  <a:latin typeface="Arial Narrow" panose="020B0606020202030204" pitchFamily="34" charset="0"/>
                </a:rPr>
                <a:t> Invest in expanding outpatient clinics to accommodate growth.</a:t>
              </a:r>
              <a:endParaRPr lang="en-IN" sz="1200" dirty="0">
                <a:latin typeface="Arial Narrow" panose="020B0606020202030204" pitchFamily="34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9180C5-7861-0AE3-8EEF-CC723700E10B}"/>
                </a:ext>
              </a:extLst>
            </p:cNvPr>
            <p:cNvGrpSpPr/>
            <p:nvPr/>
          </p:nvGrpSpPr>
          <p:grpSpPr>
            <a:xfrm>
              <a:off x="26670" y="3163805"/>
              <a:ext cx="530860" cy="530388"/>
              <a:chOff x="0" y="1341120"/>
              <a:chExt cx="530860" cy="530388"/>
            </a:xfrm>
          </p:grpSpPr>
          <p:sp>
            <p:nvSpPr>
              <p:cNvPr id="10" name="Flowchart: Connector 9">
                <a:extLst>
                  <a:ext uri="{FF2B5EF4-FFF2-40B4-BE49-F238E27FC236}">
                    <a16:creationId xmlns:a16="http://schemas.microsoft.com/office/drawing/2014/main" id="{04332903-E027-1309-0BC5-B03F681BE8FC}"/>
                  </a:ext>
                </a:extLst>
              </p:cNvPr>
              <p:cNvSpPr/>
              <p:nvPr/>
            </p:nvSpPr>
            <p:spPr>
              <a:xfrm>
                <a:off x="0" y="1341120"/>
                <a:ext cx="477520" cy="530388"/>
              </a:xfrm>
              <a:prstGeom prst="flowChartConnector">
                <a:avLst/>
              </a:prstGeom>
              <a:solidFill>
                <a:srgbClr val="673AB7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7B230E-CD4F-AEA1-7582-DB42222234AC}"/>
                  </a:ext>
                </a:extLst>
              </p:cNvPr>
              <p:cNvSpPr txBox="1"/>
              <p:nvPr/>
            </p:nvSpPr>
            <p:spPr>
              <a:xfrm>
                <a:off x="53340" y="1425118"/>
                <a:ext cx="477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02</a:t>
                </a: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8E25609-FEE0-6523-58E9-D61A963C649F}"/>
              </a:ext>
            </a:extLst>
          </p:cNvPr>
          <p:cNvGrpSpPr/>
          <p:nvPr/>
        </p:nvGrpSpPr>
        <p:grpSpPr>
          <a:xfrm>
            <a:off x="53340" y="5417599"/>
            <a:ext cx="3917950" cy="1015663"/>
            <a:chOff x="26670" y="4828455"/>
            <a:chExt cx="3917950" cy="101566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5F646A2-AD34-3DC7-4571-E858B9B5CB35}"/>
                </a:ext>
              </a:extLst>
            </p:cNvPr>
            <p:cNvSpPr txBox="1"/>
            <p:nvPr/>
          </p:nvSpPr>
          <p:spPr>
            <a:xfrm>
              <a:off x="530860" y="4828455"/>
              <a:ext cx="341376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Telehealth Services</a:t>
              </a:r>
            </a:p>
            <a:p>
              <a:endParaRPr lang="en-IN" dirty="0">
                <a:latin typeface="Arial Narrow" panose="020B0606020202030204" pitchFamily="34" charset="0"/>
              </a:endParaRPr>
            </a:p>
            <a:p>
              <a:r>
                <a:rPr lang="en-US" sz="1200" dirty="0">
                  <a:latin typeface="Arial Narrow" panose="020B0606020202030204" pitchFamily="34" charset="0"/>
                </a:rPr>
                <a:t>Enhance telehealth offerings to meet increased service demand.</a:t>
              </a:r>
              <a:endParaRPr lang="en-IN" sz="1200" dirty="0">
                <a:latin typeface="Arial Narrow" panose="020B0606020202030204" pitchFamily="34" charset="0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877379B-161E-4917-CD0D-B9A81C0E37BF}"/>
                </a:ext>
              </a:extLst>
            </p:cNvPr>
            <p:cNvGrpSpPr/>
            <p:nvPr/>
          </p:nvGrpSpPr>
          <p:grpSpPr>
            <a:xfrm>
              <a:off x="26670" y="4935037"/>
              <a:ext cx="530860" cy="530388"/>
              <a:chOff x="0" y="1341120"/>
              <a:chExt cx="530860" cy="530388"/>
            </a:xfrm>
          </p:grpSpPr>
          <p:sp>
            <p:nvSpPr>
              <p:cNvPr id="14" name="Flowchart: Connector 13">
                <a:extLst>
                  <a:ext uri="{FF2B5EF4-FFF2-40B4-BE49-F238E27FC236}">
                    <a16:creationId xmlns:a16="http://schemas.microsoft.com/office/drawing/2014/main" id="{7641835C-248A-E6DB-F218-43043C928F02}"/>
                  </a:ext>
                </a:extLst>
              </p:cNvPr>
              <p:cNvSpPr/>
              <p:nvPr/>
            </p:nvSpPr>
            <p:spPr>
              <a:xfrm>
                <a:off x="0" y="1341120"/>
                <a:ext cx="477520" cy="530388"/>
              </a:xfrm>
              <a:prstGeom prst="flowChartConnector">
                <a:avLst/>
              </a:prstGeom>
              <a:solidFill>
                <a:srgbClr val="673AB7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0CF6A36-049C-01A5-6E4D-DD8233CAF4C7}"/>
                  </a:ext>
                </a:extLst>
              </p:cNvPr>
              <p:cNvSpPr txBox="1"/>
              <p:nvPr/>
            </p:nvSpPr>
            <p:spPr>
              <a:xfrm>
                <a:off x="53340" y="1425118"/>
                <a:ext cx="477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03</a:t>
                </a:r>
              </a:p>
            </p:txBody>
          </p:sp>
        </p:grp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D2E032E-18B4-B2F6-584F-A05A924109D3}"/>
              </a:ext>
            </a:extLst>
          </p:cNvPr>
          <p:cNvSpPr/>
          <p:nvPr/>
        </p:nvSpPr>
        <p:spPr>
          <a:xfrm>
            <a:off x="4400550" y="0"/>
            <a:ext cx="4770120" cy="6685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BEA6DC-4335-D7A0-5F5B-97B204B6C7EB}"/>
              </a:ext>
            </a:extLst>
          </p:cNvPr>
          <p:cNvSpPr/>
          <p:nvPr/>
        </p:nvSpPr>
        <p:spPr>
          <a:xfrm>
            <a:off x="4572000" y="3817167"/>
            <a:ext cx="457200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31C5AB-7B1A-0931-8E47-591F7BA2059A}"/>
              </a:ext>
            </a:extLst>
          </p:cNvPr>
          <p:cNvSpPr/>
          <p:nvPr/>
        </p:nvSpPr>
        <p:spPr>
          <a:xfrm>
            <a:off x="4572000" y="5367911"/>
            <a:ext cx="457200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89AC00F-0879-8D3A-85CA-E7BE1FE6CAA3}"/>
              </a:ext>
            </a:extLst>
          </p:cNvPr>
          <p:cNvGrpSpPr/>
          <p:nvPr/>
        </p:nvGrpSpPr>
        <p:grpSpPr>
          <a:xfrm>
            <a:off x="4572000" y="355600"/>
            <a:ext cx="4572000" cy="1219200"/>
            <a:chOff x="4572000" y="355600"/>
            <a:chExt cx="4572000" cy="12192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90B161A-6E5B-90A5-5AB9-0A9E900F8179}"/>
                </a:ext>
              </a:extLst>
            </p:cNvPr>
            <p:cNvSpPr/>
            <p:nvPr/>
          </p:nvSpPr>
          <p:spPr>
            <a:xfrm>
              <a:off x="4572000" y="355600"/>
              <a:ext cx="4572000" cy="1219200"/>
            </a:xfrm>
            <a:prstGeom prst="rect">
              <a:avLst/>
            </a:prstGeom>
            <a:solidFill>
              <a:srgbClr val="30225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1EDCE0A-5FDF-5875-9BC4-E5B7485DDD5A}"/>
                </a:ext>
              </a:extLst>
            </p:cNvPr>
            <p:cNvSpPr txBox="1"/>
            <p:nvPr/>
          </p:nvSpPr>
          <p:spPr>
            <a:xfrm>
              <a:off x="5151120" y="457368"/>
              <a:ext cx="341376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Community Health</a:t>
              </a:r>
            </a:p>
            <a:p>
              <a:endParaRPr lang="en-IN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  <a:p>
              <a:r>
                <a:rPr lang="en-US" sz="120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1200" dirty="0">
                  <a:solidFill>
                    <a:schemeClr val="bg1"/>
                  </a:solidFill>
                </a:rPr>
                <a:t>Strengthen initiatives to manage emergency room traffic effectively.</a:t>
              </a:r>
              <a:endParaRPr lang="en-IN" sz="1200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5AEA728-CF35-8458-4CBF-7A145472C055}"/>
                </a:ext>
              </a:extLst>
            </p:cNvPr>
            <p:cNvGrpSpPr/>
            <p:nvPr/>
          </p:nvGrpSpPr>
          <p:grpSpPr>
            <a:xfrm>
              <a:off x="4684395" y="694157"/>
              <a:ext cx="530860" cy="530388"/>
              <a:chOff x="0" y="3311456"/>
              <a:chExt cx="530860" cy="530388"/>
            </a:xfrm>
          </p:grpSpPr>
          <p:sp>
            <p:nvSpPr>
              <p:cNvPr id="28" name="Flowchart: Connector 27">
                <a:extLst>
                  <a:ext uri="{FF2B5EF4-FFF2-40B4-BE49-F238E27FC236}">
                    <a16:creationId xmlns:a16="http://schemas.microsoft.com/office/drawing/2014/main" id="{725B07B4-9106-CE34-2C8B-80547CFF61B2}"/>
                  </a:ext>
                </a:extLst>
              </p:cNvPr>
              <p:cNvSpPr/>
              <p:nvPr/>
            </p:nvSpPr>
            <p:spPr>
              <a:xfrm>
                <a:off x="0" y="3311456"/>
                <a:ext cx="477520" cy="530388"/>
              </a:xfrm>
              <a:prstGeom prst="flowChartConnector">
                <a:avLst/>
              </a:prstGeom>
              <a:solidFill>
                <a:schemeClr val="bg1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B0BFADD-8A6D-B99E-0C4A-9726E9FFEB3F}"/>
                  </a:ext>
                </a:extLst>
              </p:cNvPr>
              <p:cNvSpPr txBox="1"/>
              <p:nvPr/>
            </p:nvSpPr>
            <p:spPr>
              <a:xfrm>
                <a:off x="53340" y="3395454"/>
                <a:ext cx="477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rgbClr val="673AB7"/>
                    </a:solidFill>
                    <a:latin typeface="Arial Narrow" panose="020B0606020202030204" pitchFamily="34" charset="0"/>
                  </a:rPr>
                  <a:t>04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8A46757-B63B-444C-C663-E9DED43FB177}"/>
              </a:ext>
            </a:extLst>
          </p:cNvPr>
          <p:cNvSpPr txBox="1"/>
          <p:nvPr/>
        </p:nvSpPr>
        <p:spPr>
          <a:xfrm>
            <a:off x="5262880" y="4011268"/>
            <a:ext cx="3413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673AB7"/>
                </a:solidFill>
                <a:latin typeface="Arial Narrow" panose="020B0606020202030204" pitchFamily="34" charset="0"/>
              </a:rPr>
              <a:t>Resource Management</a:t>
            </a:r>
          </a:p>
          <a:p>
            <a:endParaRPr lang="en-IN" dirty="0">
              <a:latin typeface="Arial Narrow" panose="020B0606020202030204" pitchFamily="34" charset="0"/>
            </a:endParaRPr>
          </a:p>
          <a:p>
            <a:r>
              <a:rPr lang="en-US" sz="1200" dirty="0">
                <a:latin typeface="Arial Narrow" panose="020B0606020202030204" pitchFamily="34" charset="0"/>
              </a:rPr>
              <a:t> Utilize predictive analytics for efficient resource allocation.</a:t>
            </a:r>
            <a:endParaRPr lang="en-IN" sz="1200" dirty="0">
              <a:latin typeface="Arial Narrow" panose="020B0606020202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27EC25-C16A-2601-A5D7-9EACF9703778}"/>
              </a:ext>
            </a:extLst>
          </p:cNvPr>
          <p:cNvSpPr txBox="1"/>
          <p:nvPr/>
        </p:nvSpPr>
        <p:spPr>
          <a:xfrm>
            <a:off x="5262880" y="5486737"/>
            <a:ext cx="34137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673AB7"/>
                </a:solidFill>
                <a:latin typeface="Arial Narrow" panose="020B0606020202030204" pitchFamily="34" charset="0"/>
              </a:rPr>
              <a:t>Patient Education</a:t>
            </a:r>
          </a:p>
          <a:p>
            <a:endParaRPr lang="en-IN" dirty="0">
              <a:latin typeface="Arial Narrow" panose="020B0606020202030204" pitchFamily="34" charset="0"/>
            </a:endParaRPr>
          </a:p>
          <a:p>
            <a:r>
              <a:rPr lang="en-US" sz="1200" dirty="0">
                <a:latin typeface="Arial Narrow" panose="020B0606020202030204" pitchFamily="34" charset="0"/>
              </a:rPr>
              <a:t>Develop programs to inform patients about services and options.</a:t>
            </a:r>
            <a:endParaRPr lang="en-IN" sz="1200" dirty="0">
              <a:latin typeface="Arial Narrow" panose="020B0606020202030204" pitchFamily="3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CBD07EC-0678-8242-B647-A40827770FA2}"/>
              </a:ext>
            </a:extLst>
          </p:cNvPr>
          <p:cNvGrpSpPr/>
          <p:nvPr/>
        </p:nvGrpSpPr>
        <p:grpSpPr>
          <a:xfrm>
            <a:off x="4572000" y="2106016"/>
            <a:ext cx="4572000" cy="1219200"/>
            <a:chOff x="4572000" y="2106016"/>
            <a:chExt cx="4572000" cy="12192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2EDE850-BBCE-319A-CF05-D648EA789401}"/>
                </a:ext>
              </a:extLst>
            </p:cNvPr>
            <p:cNvSpPr/>
            <p:nvPr/>
          </p:nvSpPr>
          <p:spPr>
            <a:xfrm>
              <a:off x="4572000" y="2106016"/>
              <a:ext cx="4572000" cy="1219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38F0408-101D-8C16-F069-4C4E8CB4DE07}"/>
                </a:ext>
              </a:extLst>
            </p:cNvPr>
            <p:cNvSpPr txBox="1"/>
            <p:nvPr/>
          </p:nvSpPr>
          <p:spPr>
            <a:xfrm>
              <a:off x="5290185" y="2216449"/>
              <a:ext cx="341376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Preventive Health</a:t>
              </a:r>
            </a:p>
            <a:p>
              <a:endParaRPr lang="en-IN" dirty="0">
                <a:latin typeface="Arial Narrow" panose="020B0606020202030204" pitchFamily="34" charset="0"/>
              </a:endParaRPr>
            </a:p>
            <a:p>
              <a:r>
                <a:rPr lang="en-US" sz="1200" dirty="0">
                  <a:latin typeface="Arial Narrow" panose="020B0606020202030204" pitchFamily="34" charset="0"/>
                </a:rPr>
                <a:t>Expand wellness programs to promote preventive healthcare services.</a:t>
              </a:r>
              <a:endParaRPr lang="en-IN" sz="1200" dirty="0">
                <a:latin typeface="Arial Narrow" panose="020B0606020202030204" pitchFamily="34" charset="0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C4B195E-AA0F-8861-7FAF-721EEA01F4A7}"/>
                </a:ext>
              </a:extLst>
            </p:cNvPr>
            <p:cNvGrpSpPr/>
            <p:nvPr/>
          </p:nvGrpSpPr>
          <p:grpSpPr>
            <a:xfrm>
              <a:off x="4641215" y="2440017"/>
              <a:ext cx="530860" cy="530388"/>
              <a:chOff x="0" y="1341120"/>
              <a:chExt cx="530860" cy="530388"/>
            </a:xfrm>
          </p:grpSpPr>
          <p:sp>
            <p:nvSpPr>
              <p:cNvPr id="35" name="Flowchart: Connector 34">
                <a:extLst>
                  <a:ext uri="{FF2B5EF4-FFF2-40B4-BE49-F238E27FC236}">
                    <a16:creationId xmlns:a16="http://schemas.microsoft.com/office/drawing/2014/main" id="{D6039183-3596-F33A-16E6-E457C368BE0A}"/>
                  </a:ext>
                </a:extLst>
              </p:cNvPr>
              <p:cNvSpPr/>
              <p:nvPr/>
            </p:nvSpPr>
            <p:spPr>
              <a:xfrm>
                <a:off x="0" y="1341120"/>
                <a:ext cx="477520" cy="530388"/>
              </a:xfrm>
              <a:prstGeom prst="flowChartConnector">
                <a:avLst/>
              </a:prstGeom>
              <a:solidFill>
                <a:srgbClr val="673AB7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EBC54DD-D5E7-11F8-56AB-D844504F3FA9}"/>
                  </a:ext>
                </a:extLst>
              </p:cNvPr>
              <p:cNvSpPr txBox="1"/>
              <p:nvPr/>
            </p:nvSpPr>
            <p:spPr>
              <a:xfrm>
                <a:off x="53340" y="1425118"/>
                <a:ext cx="477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05</a:t>
                </a:r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ECE1C3C-BEE3-5939-BA10-D55AF964B6D0}"/>
              </a:ext>
            </a:extLst>
          </p:cNvPr>
          <p:cNvGrpSpPr/>
          <p:nvPr/>
        </p:nvGrpSpPr>
        <p:grpSpPr>
          <a:xfrm>
            <a:off x="4698365" y="4270644"/>
            <a:ext cx="530860" cy="530388"/>
            <a:chOff x="0" y="1341120"/>
            <a:chExt cx="530860" cy="530388"/>
          </a:xfrm>
        </p:grpSpPr>
        <p:sp>
          <p:nvSpPr>
            <p:cNvPr id="38" name="Flowchart: Connector 37">
              <a:extLst>
                <a:ext uri="{FF2B5EF4-FFF2-40B4-BE49-F238E27FC236}">
                  <a16:creationId xmlns:a16="http://schemas.microsoft.com/office/drawing/2014/main" id="{9470BF7A-0DCA-7D2F-BF8B-FF7B24144FC6}"/>
                </a:ext>
              </a:extLst>
            </p:cNvPr>
            <p:cNvSpPr/>
            <p:nvPr/>
          </p:nvSpPr>
          <p:spPr>
            <a:xfrm>
              <a:off x="0" y="1341120"/>
              <a:ext cx="477520" cy="530388"/>
            </a:xfrm>
            <a:prstGeom prst="flowChartConnector">
              <a:avLst/>
            </a:prstGeom>
            <a:solidFill>
              <a:srgbClr val="673AB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6B466EA-4D07-90B6-B91A-EDEEFE1724F1}"/>
                </a:ext>
              </a:extLst>
            </p:cNvPr>
            <p:cNvSpPr txBox="1"/>
            <p:nvPr/>
          </p:nvSpPr>
          <p:spPr>
            <a:xfrm>
              <a:off x="53340" y="1425118"/>
              <a:ext cx="477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06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3127253-8DA3-3F07-B5B1-801081030E21}"/>
              </a:ext>
            </a:extLst>
          </p:cNvPr>
          <p:cNvGrpSpPr/>
          <p:nvPr/>
        </p:nvGrpSpPr>
        <p:grpSpPr>
          <a:xfrm>
            <a:off x="4652010" y="5789807"/>
            <a:ext cx="530860" cy="530388"/>
            <a:chOff x="0" y="1341120"/>
            <a:chExt cx="530860" cy="530388"/>
          </a:xfrm>
        </p:grpSpPr>
        <p:sp>
          <p:nvSpPr>
            <p:cNvPr id="41" name="Flowchart: Connector 40">
              <a:extLst>
                <a:ext uri="{FF2B5EF4-FFF2-40B4-BE49-F238E27FC236}">
                  <a16:creationId xmlns:a16="http://schemas.microsoft.com/office/drawing/2014/main" id="{AD5EFD34-1AB2-F2A4-8D92-1AA65B5A24C1}"/>
                </a:ext>
              </a:extLst>
            </p:cNvPr>
            <p:cNvSpPr/>
            <p:nvPr/>
          </p:nvSpPr>
          <p:spPr>
            <a:xfrm>
              <a:off x="0" y="1341120"/>
              <a:ext cx="477520" cy="530388"/>
            </a:xfrm>
            <a:prstGeom prst="flowChartConnector">
              <a:avLst/>
            </a:prstGeom>
            <a:solidFill>
              <a:srgbClr val="673AB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CB6D79A-6BDC-0DC8-D28A-160FA79FE261}"/>
                </a:ext>
              </a:extLst>
            </p:cNvPr>
            <p:cNvSpPr txBox="1"/>
            <p:nvPr/>
          </p:nvSpPr>
          <p:spPr>
            <a:xfrm>
              <a:off x="53340" y="1425118"/>
              <a:ext cx="477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07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3184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49D431-3AE5-4B8A-EEA5-F05CA0FA5931}"/>
              </a:ext>
            </a:extLst>
          </p:cNvPr>
          <p:cNvSpPr txBox="1"/>
          <p:nvPr/>
        </p:nvSpPr>
        <p:spPr>
          <a:xfrm>
            <a:off x="325120" y="135942"/>
            <a:ext cx="728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673AB7"/>
                </a:solidFill>
                <a:latin typeface="Arial Narrow" panose="020B0606020202030204" pitchFamily="34" charset="0"/>
              </a:rPr>
              <a:t>Length of Stay(LOS) Highlights</a:t>
            </a:r>
            <a:endParaRPr lang="en-IN" sz="3600" b="1" dirty="0">
              <a:solidFill>
                <a:srgbClr val="673AB7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8F520-4DB6-FF02-3081-36CA3913BC59}"/>
              </a:ext>
            </a:extLst>
          </p:cNvPr>
          <p:cNvSpPr/>
          <p:nvPr/>
        </p:nvSpPr>
        <p:spPr>
          <a:xfrm>
            <a:off x="0" y="6685280"/>
            <a:ext cx="9144000" cy="172720"/>
          </a:xfrm>
          <a:prstGeom prst="rect">
            <a:avLst/>
          </a:prstGeom>
          <a:solidFill>
            <a:srgbClr val="673A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6900AE-4198-9010-D9DA-E10E69B82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2052"/>
            <a:ext cx="9144000" cy="560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673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B33AE-C58A-A3E9-C944-5875FD113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9636E1-B164-961B-27E1-52340B42DB34}"/>
              </a:ext>
            </a:extLst>
          </p:cNvPr>
          <p:cNvSpPr txBox="1"/>
          <p:nvPr/>
        </p:nvSpPr>
        <p:spPr>
          <a:xfrm>
            <a:off x="325120" y="135942"/>
            <a:ext cx="728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673AB7"/>
                </a:solidFill>
                <a:latin typeface="Arial Narrow" panose="020B0606020202030204" pitchFamily="34" charset="0"/>
              </a:rPr>
              <a:t>Length of Stay(LOS) Highlights</a:t>
            </a:r>
            <a:endParaRPr lang="en-IN" sz="3600" b="1" dirty="0">
              <a:solidFill>
                <a:srgbClr val="673AB7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DBD0D5-1333-2FC2-2C94-53DF8BF648FD}"/>
              </a:ext>
            </a:extLst>
          </p:cNvPr>
          <p:cNvSpPr/>
          <p:nvPr/>
        </p:nvSpPr>
        <p:spPr>
          <a:xfrm>
            <a:off x="0" y="6685280"/>
            <a:ext cx="9144000" cy="172720"/>
          </a:xfrm>
          <a:prstGeom prst="rect">
            <a:avLst/>
          </a:prstGeom>
          <a:solidFill>
            <a:srgbClr val="673A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9BCC83-CF12-DEBA-78B4-FA2B9CE86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8341"/>
            <a:ext cx="9144000" cy="534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259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72505-9832-7798-36B5-B17DB610B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8FE108-2C22-45AF-5885-5DA10E05D802}"/>
              </a:ext>
            </a:extLst>
          </p:cNvPr>
          <p:cNvSpPr txBox="1"/>
          <p:nvPr/>
        </p:nvSpPr>
        <p:spPr>
          <a:xfrm>
            <a:off x="325120" y="135942"/>
            <a:ext cx="728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673AB7"/>
                </a:solidFill>
                <a:latin typeface="Arial Narrow" panose="020B0606020202030204" pitchFamily="34" charset="0"/>
              </a:rPr>
              <a:t>Cost per Visit Analysis and Trends</a:t>
            </a:r>
            <a:endParaRPr lang="en-IN" sz="3600" b="1" dirty="0">
              <a:solidFill>
                <a:srgbClr val="673AB7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6FAED5-2F1C-5187-46A8-7798EA3AEAA0}"/>
              </a:ext>
            </a:extLst>
          </p:cNvPr>
          <p:cNvSpPr/>
          <p:nvPr/>
        </p:nvSpPr>
        <p:spPr>
          <a:xfrm>
            <a:off x="0" y="6685280"/>
            <a:ext cx="9144000" cy="172720"/>
          </a:xfrm>
          <a:prstGeom prst="rect">
            <a:avLst/>
          </a:prstGeom>
          <a:solidFill>
            <a:srgbClr val="673A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96E05C-3FA1-2068-405C-AAC2651C3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8932"/>
            <a:ext cx="9144000" cy="546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328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DD0ED-1FD2-3AA1-BA37-15D44FF67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AFAAF6-5358-87E6-0EE6-1FEF23F15C2A}"/>
              </a:ext>
            </a:extLst>
          </p:cNvPr>
          <p:cNvSpPr/>
          <p:nvPr/>
        </p:nvSpPr>
        <p:spPr>
          <a:xfrm>
            <a:off x="0" y="6685280"/>
            <a:ext cx="9144000" cy="172720"/>
          </a:xfrm>
          <a:prstGeom prst="rect">
            <a:avLst/>
          </a:prstGeom>
          <a:solidFill>
            <a:srgbClr val="673A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857844-8D7F-8313-22FF-ED6942EDA610}"/>
              </a:ext>
            </a:extLst>
          </p:cNvPr>
          <p:cNvSpPr txBox="1"/>
          <p:nvPr/>
        </p:nvSpPr>
        <p:spPr>
          <a:xfrm>
            <a:off x="0" y="135942"/>
            <a:ext cx="45186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673AB7"/>
                </a:solidFill>
                <a:latin typeface="Arial Narrow" panose="020B0606020202030204" pitchFamily="34" charset="0"/>
              </a:rPr>
              <a:t>General Recommendations for Cost Efficiency</a:t>
            </a:r>
            <a:endParaRPr lang="en-IN" sz="3600" b="1" dirty="0">
              <a:solidFill>
                <a:srgbClr val="673AB7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5479933-38FA-A891-A39F-D1C16E699D25}"/>
              </a:ext>
            </a:extLst>
          </p:cNvPr>
          <p:cNvGrpSpPr/>
          <p:nvPr/>
        </p:nvGrpSpPr>
        <p:grpSpPr>
          <a:xfrm>
            <a:off x="106680" y="2146656"/>
            <a:ext cx="3891280" cy="1015663"/>
            <a:chOff x="0" y="917286"/>
            <a:chExt cx="3891280" cy="101566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BB24FCD-D6D7-4946-4F9C-25500F768925}"/>
                </a:ext>
              </a:extLst>
            </p:cNvPr>
            <p:cNvSpPr txBox="1"/>
            <p:nvPr/>
          </p:nvSpPr>
          <p:spPr>
            <a:xfrm>
              <a:off x="477520" y="917286"/>
              <a:ext cx="341376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Optimize</a:t>
              </a:r>
            </a:p>
            <a:p>
              <a:endParaRPr lang="en-IN" dirty="0">
                <a:solidFill>
                  <a:srgbClr val="673AB7"/>
                </a:solidFill>
                <a:latin typeface="Arial Narrow" panose="020B0606020202030204" pitchFamily="34" charset="0"/>
              </a:endParaRPr>
            </a:p>
            <a:p>
              <a:r>
                <a:rPr lang="en-US" sz="1200" dirty="0">
                  <a:latin typeface="Arial Narrow" panose="020B0606020202030204" pitchFamily="34" charset="0"/>
                </a:rPr>
                <a:t> Streamline procedures to cut unnecessary expenses significantly. </a:t>
              </a:r>
              <a:endParaRPr lang="en-IN" sz="1200" dirty="0">
                <a:latin typeface="Arial Narrow" panose="020B060602020203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201D399-8897-5CBE-F009-1A23FBDAE0ED}"/>
                </a:ext>
              </a:extLst>
            </p:cNvPr>
            <p:cNvGrpSpPr/>
            <p:nvPr/>
          </p:nvGrpSpPr>
          <p:grpSpPr>
            <a:xfrm>
              <a:off x="0" y="1159923"/>
              <a:ext cx="530860" cy="530388"/>
              <a:chOff x="0" y="1341120"/>
              <a:chExt cx="530860" cy="530388"/>
            </a:xfrm>
          </p:grpSpPr>
          <p:sp>
            <p:nvSpPr>
              <p:cNvPr id="6" name="Flowchart: Connector 5">
                <a:extLst>
                  <a:ext uri="{FF2B5EF4-FFF2-40B4-BE49-F238E27FC236}">
                    <a16:creationId xmlns:a16="http://schemas.microsoft.com/office/drawing/2014/main" id="{D968561F-B7F7-3847-82B0-7F6847910142}"/>
                  </a:ext>
                </a:extLst>
              </p:cNvPr>
              <p:cNvSpPr/>
              <p:nvPr/>
            </p:nvSpPr>
            <p:spPr>
              <a:xfrm>
                <a:off x="0" y="1341120"/>
                <a:ext cx="477520" cy="530388"/>
              </a:xfrm>
              <a:prstGeom prst="flowChartConnector">
                <a:avLst/>
              </a:prstGeom>
              <a:solidFill>
                <a:srgbClr val="673AB7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99F3F99-7CA6-2D11-B544-A7F24EA01028}"/>
                  </a:ext>
                </a:extLst>
              </p:cNvPr>
              <p:cNvSpPr txBox="1"/>
              <p:nvPr/>
            </p:nvSpPr>
            <p:spPr>
              <a:xfrm>
                <a:off x="53340" y="1425118"/>
                <a:ext cx="477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01</a:t>
                </a: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8B3BB64-7F6D-3CC2-559A-4853C93AC9B3}"/>
              </a:ext>
            </a:extLst>
          </p:cNvPr>
          <p:cNvGrpSpPr/>
          <p:nvPr/>
        </p:nvGrpSpPr>
        <p:grpSpPr>
          <a:xfrm>
            <a:off x="53340" y="3730800"/>
            <a:ext cx="3864610" cy="1015663"/>
            <a:chOff x="26670" y="2921168"/>
            <a:chExt cx="3864610" cy="101566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30926CE-3F06-CBEC-1759-4DFA88556C8E}"/>
                </a:ext>
              </a:extLst>
            </p:cNvPr>
            <p:cNvSpPr txBox="1"/>
            <p:nvPr/>
          </p:nvSpPr>
          <p:spPr>
            <a:xfrm>
              <a:off x="477520" y="2921168"/>
              <a:ext cx="341376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Negotiate</a:t>
              </a:r>
            </a:p>
            <a:p>
              <a:endParaRPr lang="en-IN" dirty="0">
                <a:latin typeface="Arial Narrow" panose="020B0606020202030204" pitchFamily="34" charset="0"/>
              </a:endParaRPr>
            </a:p>
            <a:p>
              <a:r>
                <a:rPr lang="en-US" sz="1200" dirty="0">
                  <a:latin typeface="Arial Narrow" panose="020B0606020202030204" pitchFamily="34" charset="0"/>
                </a:rPr>
                <a:t> Ensure insurers for better reimbursement rates on high-cost services.</a:t>
              </a:r>
              <a:endParaRPr lang="en-IN" sz="1200" dirty="0">
                <a:latin typeface="Arial Narrow" panose="020B0606020202030204" pitchFamily="34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DB23999-74B5-3530-79A5-10DA0BE9DEB6}"/>
                </a:ext>
              </a:extLst>
            </p:cNvPr>
            <p:cNvGrpSpPr/>
            <p:nvPr/>
          </p:nvGrpSpPr>
          <p:grpSpPr>
            <a:xfrm>
              <a:off x="26670" y="3163805"/>
              <a:ext cx="530860" cy="530388"/>
              <a:chOff x="0" y="1341120"/>
              <a:chExt cx="530860" cy="530388"/>
            </a:xfrm>
          </p:grpSpPr>
          <p:sp>
            <p:nvSpPr>
              <p:cNvPr id="10" name="Flowchart: Connector 9">
                <a:extLst>
                  <a:ext uri="{FF2B5EF4-FFF2-40B4-BE49-F238E27FC236}">
                    <a16:creationId xmlns:a16="http://schemas.microsoft.com/office/drawing/2014/main" id="{E5AF45B8-CFAF-4A42-40B9-2843A622A048}"/>
                  </a:ext>
                </a:extLst>
              </p:cNvPr>
              <p:cNvSpPr/>
              <p:nvPr/>
            </p:nvSpPr>
            <p:spPr>
              <a:xfrm>
                <a:off x="0" y="1341120"/>
                <a:ext cx="477520" cy="530388"/>
              </a:xfrm>
              <a:prstGeom prst="flowChartConnector">
                <a:avLst/>
              </a:prstGeom>
              <a:solidFill>
                <a:srgbClr val="673AB7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97E935E-50E0-C079-8A99-ADC41C8F7A8B}"/>
                  </a:ext>
                </a:extLst>
              </p:cNvPr>
              <p:cNvSpPr txBox="1"/>
              <p:nvPr/>
            </p:nvSpPr>
            <p:spPr>
              <a:xfrm>
                <a:off x="53340" y="1425118"/>
                <a:ext cx="477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02</a:t>
                </a: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89091A2-9847-C21C-60FE-D5CDD4B88F30}"/>
              </a:ext>
            </a:extLst>
          </p:cNvPr>
          <p:cNvGrpSpPr/>
          <p:nvPr/>
        </p:nvGrpSpPr>
        <p:grpSpPr>
          <a:xfrm>
            <a:off x="53340" y="5417599"/>
            <a:ext cx="3917950" cy="923330"/>
            <a:chOff x="26670" y="4828455"/>
            <a:chExt cx="3917950" cy="92333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13CA5DE-305D-C954-92E3-20933D8AC065}"/>
                </a:ext>
              </a:extLst>
            </p:cNvPr>
            <p:cNvSpPr txBox="1"/>
            <p:nvPr/>
          </p:nvSpPr>
          <p:spPr>
            <a:xfrm>
              <a:off x="530860" y="4828455"/>
              <a:ext cx="341376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Invest</a:t>
              </a:r>
            </a:p>
            <a:p>
              <a:endParaRPr lang="en-IN" sz="1200" dirty="0">
                <a:solidFill>
                  <a:srgbClr val="673AB7"/>
                </a:solidFill>
                <a:latin typeface="Arial Narrow" panose="020B0606020202030204" pitchFamily="34" charset="0"/>
              </a:endParaRPr>
            </a:p>
            <a:p>
              <a:r>
                <a:rPr lang="en-US" sz="1200" dirty="0">
                  <a:latin typeface="Arial Narrow" panose="020B0606020202030204" pitchFamily="34" charset="0"/>
                </a:rPr>
                <a:t>.Allocate resources to enhance technology for operational efficiencies.</a:t>
              </a:r>
              <a:endParaRPr lang="en-IN" sz="1200" dirty="0">
                <a:latin typeface="Arial Narrow" panose="020B0606020202030204" pitchFamily="34" charset="0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CF25DC0-74EC-AEAC-3D69-2F94B25802E9}"/>
                </a:ext>
              </a:extLst>
            </p:cNvPr>
            <p:cNvGrpSpPr/>
            <p:nvPr/>
          </p:nvGrpSpPr>
          <p:grpSpPr>
            <a:xfrm>
              <a:off x="26670" y="4935037"/>
              <a:ext cx="530860" cy="530388"/>
              <a:chOff x="0" y="1341120"/>
              <a:chExt cx="530860" cy="530388"/>
            </a:xfrm>
          </p:grpSpPr>
          <p:sp>
            <p:nvSpPr>
              <p:cNvPr id="14" name="Flowchart: Connector 13">
                <a:extLst>
                  <a:ext uri="{FF2B5EF4-FFF2-40B4-BE49-F238E27FC236}">
                    <a16:creationId xmlns:a16="http://schemas.microsoft.com/office/drawing/2014/main" id="{231C8688-E81D-6C90-9F9D-391367155E4E}"/>
                  </a:ext>
                </a:extLst>
              </p:cNvPr>
              <p:cNvSpPr/>
              <p:nvPr/>
            </p:nvSpPr>
            <p:spPr>
              <a:xfrm>
                <a:off x="0" y="1341120"/>
                <a:ext cx="477520" cy="530388"/>
              </a:xfrm>
              <a:prstGeom prst="flowChartConnector">
                <a:avLst/>
              </a:prstGeom>
              <a:solidFill>
                <a:srgbClr val="673AB7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ADDB17C-CE0B-9384-22F1-C5E10B9D8FEB}"/>
                  </a:ext>
                </a:extLst>
              </p:cNvPr>
              <p:cNvSpPr txBox="1"/>
              <p:nvPr/>
            </p:nvSpPr>
            <p:spPr>
              <a:xfrm>
                <a:off x="53340" y="1425118"/>
                <a:ext cx="477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03</a:t>
                </a:r>
              </a:p>
            </p:txBody>
          </p:sp>
        </p:grp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C40FD6B1-18AB-736A-ECE1-391BE28CC74B}"/>
              </a:ext>
            </a:extLst>
          </p:cNvPr>
          <p:cNvSpPr/>
          <p:nvPr/>
        </p:nvSpPr>
        <p:spPr>
          <a:xfrm>
            <a:off x="4400550" y="0"/>
            <a:ext cx="4770120" cy="6685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8BA53D-13CB-3F22-7CE8-A300D48CDB8A}"/>
              </a:ext>
            </a:extLst>
          </p:cNvPr>
          <p:cNvSpPr/>
          <p:nvPr/>
        </p:nvSpPr>
        <p:spPr>
          <a:xfrm>
            <a:off x="4572000" y="3817167"/>
            <a:ext cx="4572000" cy="121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4BE738A-1723-707D-8B98-7EA88C1CDF4C}"/>
              </a:ext>
            </a:extLst>
          </p:cNvPr>
          <p:cNvGrpSpPr/>
          <p:nvPr/>
        </p:nvGrpSpPr>
        <p:grpSpPr>
          <a:xfrm>
            <a:off x="4572000" y="355600"/>
            <a:ext cx="4572000" cy="1219200"/>
            <a:chOff x="4572000" y="355600"/>
            <a:chExt cx="4572000" cy="12192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C56E9A2-2DB3-9FB2-AAB7-EF4AA4135C40}"/>
                </a:ext>
              </a:extLst>
            </p:cNvPr>
            <p:cNvSpPr/>
            <p:nvPr/>
          </p:nvSpPr>
          <p:spPr>
            <a:xfrm>
              <a:off x="4572000" y="355600"/>
              <a:ext cx="4572000" cy="1219200"/>
            </a:xfrm>
            <a:prstGeom prst="rect">
              <a:avLst/>
            </a:prstGeom>
            <a:solidFill>
              <a:srgbClr val="30225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0567A99-E392-6DF3-CE09-1B90710DACD2}"/>
                </a:ext>
              </a:extLst>
            </p:cNvPr>
            <p:cNvSpPr txBox="1"/>
            <p:nvPr/>
          </p:nvSpPr>
          <p:spPr>
            <a:xfrm>
              <a:off x="5151120" y="457368"/>
              <a:ext cx="341376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Monitor</a:t>
              </a:r>
            </a:p>
            <a:p>
              <a:endParaRPr lang="en-IN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  <a:p>
              <a:r>
                <a:rPr lang="en-US" sz="120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 </a:t>
              </a:r>
              <a:r>
                <a:rPr lang="en-US" sz="1200" dirty="0">
                  <a:solidFill>
                    <a:schemeClr val="bg1"/>
                  </a:solidFill>
                </a:rPr>
                <a:t>Regularly review financial reports to identify  cost –saving  opportunities. </a:t>
              </a:r>
              <a:endParaRPr lang="en-IN" sz="1200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1D57F55-8B63-12C8-67BD-D3E7165A5E58}"/>
                </a:ext>
              </a:extLst>
            </p:cNvPr>
            <p:cNvGrpSpPr/>
            <p:nvPr/>
          </p:nvGrpSpPr>
          <p:grpSpPr>
            <a:xfrm>
              <a:off x="4684395" y="694157"/>
              <a:ext cx="530860" cy="530388"/>
              <a:chOff x="0" y="3311456"/>
              <a:chExt cx="530860" cy="530388"/>
            </a:xfrm>
          </p:grpSpPr>
          <p:sp>
            <p:nvSpPr>
              <p:cNvPr id="28" name="Flowchart: Connector 27">
                <a:extLst>
                  <a:ext uri="{FF2B5EF4-FFF2-40B4-BE49-F238E27FC236}">
                    <a16:creationId xmlns:a16="http://schemas.microsoft.com/office/drawing/2014/main" id="{235B20AA-454C-BA22-9EE7-B38906259698}"/>
                  </a:ext>
                </a:extLst>
              </p:cNvPr>
              <p:cNvSpPr/>
              <p:nvPr/>
            </p:nvSpPr>
            <p:spPr>
              <a:xfrm>
                <a:off x="0" y="3311456"/>
                <a:ext cx="477520" cy="530388"/>
              </a:xfrm>
              <a:prstGeom prst="flowChartConnector">
                <a:avLst/>
              </a:prstGeom>
              <a:solidFill>
                <a:schemeClr val="bg1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ABCFDA7-53A6-0645-2E20-3D64714E5DC0}"/>
                  </a:ext>
                </a:extLst>
              </p:cNvPr>
              <p:cNvSpPr txBox="1"/>
              <p:nvPr/>
            </p:nvSpPr>
            <p:spPr>
              <a:xfrm>
                <a:off x="53340" y="3395454"/>
                <a:ext cx="477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rgbClr val="673AB7"/>
                    </a:solidFill>
                    <a:latin typeface="Arial Narrow" panose="020B0606020202030204" pitchFamily="34" charset="0"/>
                  </a:rPr>
                  <a:t>04</a:t>
                </a:r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4D964E7-4C2A-DCD7-F368-D09DA42EEFDE}"/>
              </a:ext>
            </a:extLst>
          </p:cNvPr>
          <p:cNvSpPr txBox="1"/>
          <p:nvPr/>
        </p:nvSpPr>
        <p:spPr>
          <a:xfrm>
            <a:off x="5262880" y="4011268"/>
            <a:ext cx="3413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673AB7"/>
                </a:solidFill>
                <a:latin typeface="Arial Narrow" panose="020B0606020202030204" pitchFamily="34" charset="0"/>
              </a:rPr>
              <a:t>Resource Management</a:t>
            </a:r>
          </a:p>
          <a:p>
            <a:endParaRPr lang="en-IN" dirty="0">
              <a:latin typeface="Arial Narrow" panose="020B0606020202030204" pitchFamily="34" charset="0"/>
            </a:endParaRPr>
          </a:p>
          <a:p>
            <a:r>
              <a:rPr lang="en-US" sz="1200" dirty="0">
                <a:latin typeface="Arial Narrow" panose="020B0606020202030204" pitchFamily="34" charset="0"/>
              </a:rPr>
              <a:t> Utilize predictive analytics for efficient resource allocation.</a:t>
            </a:r>
            <a:endParaRPr lang="en-IN" sz="1200" dirty="0">
              <a:latin typeface="Arial Narrow" panose="020B0606020202030204" pitchFamily="34" charset="0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95FFD2C-2CEE-934D-9964-133028363426}"/>
              </a:ext>
            </a:extLst>
          </p:cNvPr>
          <p:cNvGrpSpPr/>
          <p:nvPr/>
        </p:nvGrpSpPr>
        <p:grpSpPr>
          <a:xfrm>
            <a:off x="4572000" y="2106016"/>
            <a:ext cx="4572000" cy="1219200"/>
            <a:chOff x="4572000" y="2106016"/>
            <a:chExt cx="4572000" cy="12192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07082D7-87DB-B336-DB78-4C32DFB29D9F}"/>
                </a:ext>
              </a:extLst>
            </p:cNvPr>
            <p:cNvSpPr/>
            <p:nvPr/>
          </p:nvSpPr>
          <p:spPr>
            <a:xfrm>
              <a:off x="4572000" y="2106016"/>
              <a:ext cx="4572000" cy="1219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F5F9355-D2C2-4872-8D77-8C1136185692}"/>
                </a:ext>
              </a:extLst>
            </p:cNvPr>
            <p:cNvSpPr txBox="1"/>
            <p:nvPr/>
          </p:nvSpPr>
          <p:spPr>
            <a:xfrm>
              <a:off x="5290185" y="2216449"/>
              <a:ext cx="341376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Preventive Health</a:t>
              </a:r>
            </a:p>
            <a:p>
              <a:endParaRPr lang="en-IN" dirty="0">
                <a:latin typeface="Arial Narrow" panose="020B0606020202030204" pitchFamily="34" charset="0"/>
              </a:endParaRPr>
            </a:p>
            <a:p>
              <a:r>
                <a:rPr lang="en-US" sz="1200" dirty="0">
                  <a:latin typeface="Arial Narrow" panose="020B0606020202030204" pitchFamily="34" charset="0"/>
                </a:rPr>
                <a:t>Expand wellness programs to promote preventive healthcare services.</a:t>
              </a:r>
              <a:endParaRPr lang="en-IN" sz="1200" dirty="0">
                <a:latin typeface="Arial Narrow" panose="020B0606020202030204" pitchFamily="34" charset="0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0A836DE-3C16-F360-6C7A-AF2E00BF005E}"/>
                </a:ext>
              </a:extLst>
            </p:cNvPr>
            <p:cNvGrpSpPr/>
            <p:nvPr/>
          </p:nvGrpSpPr>
          <p:grpSpPr>
            <a:xfrm>
              <a:off x="4641215" y="2440017"/>
              <a:ext cx="530860" cy="530388"/>
              <a:chOff x="0" y="1341120"/>
              <a:chExt cx="530860" cy="530388"/>
            </a:xfrm>
          </p:grpSpPr>
          <p:sp>
            <p:nvSpPr>
              <p:cNvPr id="35" name="Flowchart: Connector 34">
                <a:extLst>
                  <a:ext uri="{FF2B5EF4-FFF2-40B4-BE49-F238E27FC236}">
                    <a16:creationId xmlns:a16="http://schemas.microsoft.com/office/drawing/2014/main" id="{1A345CB0-ADF6-C8B8-56AB-AC21E15638B4}"/>
                  </a:ext>
                </a:extLst>
              </p:cNvPr>
              <p:cNvSpPr/>
              <p:nvPr/>
            </p:nvSpPr>
            <p:spPr>
              <a:xfrm>
                <a:off x="0" y="1341120"/>
                <a:ext cx="477520" cy="530388"/>
              </a:xfrm>
              <a:prstGeom prst="flowChartConnector">
                <a:avLst/>
              </a:prstGeom>
              <a:solidFill>
                <a:srgbClr val="673AB7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38C7493-1631-806B-787E-35DC1D947EDC}"/>
                  </a:ext>
                </a:extLst>
              </p:cNvPr>
              <p:cNvSpPr txBox="1"/>
              <p:nvPr/>
            </p:nvSpPr>
            <p:spPr>
              <a:xfrm>
                <a:off x="53340" y="1425118"/>
                <a:ext cx="477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05</a:t>
                </a:r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CE62516-46E2-7E9C-B22A-9AB9D368734E}"/>
              </a:ext>
            </a:extLst>
          </p:cNvPr>
          <p:cNvGrpSpPr/>
          <p:nvPr/>
        </p:nvGrpSpPr>
        <p:grpSpPr>
          <a:xfrm>
            <a:off x="4698365" y="4270644"/>
            <a:ext cx="530860" cy="530388"/>
            <a:chOff x="0" y="1341120"/>
            <a:chExt cx="530860" cy="530388"/>
          </a:xfrm>
        </p:grpSpPr>
        <p:sp>
          <p:nvSpPr>
            <p:cNvPr id="38" name="Flowchart: Connector 37">
              <a:extLst>
                <a:ext uri="{FF2B5EF4-FFF2-40B4-BE49-F238E27FC236}">
                  <a16:creationId xmlns:a16="http://schemas.microsoft.com/office/drawing/2014/main" id="{7D59AF7A-17FB-13D1-956A-B831982CBA0C}"/>
                </a:ext>
              </a:extLst>
            </p:cNvPr>
            <p:cNvSpPr/>
            <p:nvPr/>
          </p:nvSpPr>
          <p:spPr>
            <a:xfrm>
              <a:off x="0" y="1341120"/>
              <a:ext cx="477520" cy="530388"/>
            </a:xfrm>
            <a:prstGeom prst="flowChartConnector">
              <a:avLst/>
            </a:prstGeom>
            <a:solidFill>
              <a:srgbClr val="673AB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79ACC71-CF01-6B40-DAD0-3D10EF23EE1E}"/>
                </a:ext>
              </a:extLst>
            </p:cNvPr>
            <p:cNvSpPr txBox="1"/>
            <p:nvPr/>
          </p:nvSpPr>
          <p:spPr>
            <a:xfrm>
              <a:off x="53340" y="1425118"/>
              <a:ext cx="477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06</a:t>
              </a:r>
            </a:p>
          </p:txBody>
        </p:sp>
      </p:grpSp>
      <p:pic>
        <p:nvPicPr>
          <p:cNvPr id="12290" name="Picture 2" descr="Close up on people working in the office">
            <a:extLst>
              <a:ext uri="{FF2B5EF4-FFF2-40B4-BE49-F238E27FC236}">
                <a16:creationId xmlns:a16="http://schemas.microsoft.com/office/drawing/2014/main" id="{A9F96B26-7586-AD05-C782-72A7636BF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599024"/>
            <a:ext cx="455676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30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5AE6B-E040-7A2F-9F10-2CE2DA061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0D18D8-67A0-D710-45C0-47F17475EF38}"/>
              </a:ext>
            </a:extLst>
          </p:cNvPr>
          <p:cNvSpPr txBox="1"/>
          <p:nvPr/>
        </p:nvSpPr>
        <p:spPr>
          <a:xfrm>
            <a:off x="165735" y="135942"/>
            <a:ext cx="42468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673AB7"/>
                </a:solidFill>
                <a:latin typeface="Arial Narrow" panose="020B0606020202030204" pitchFamily="34" charset="0"/>
              </a:rPr>
              <a:t>Insurance Coverage for Procedures Overview</a:t>
            </a:r>
            <a:endParaRPr lang="en-IN" sz="3600" b="1" dirty="0">
              <a:solidFill>
                <a:srgbClr val="673AB7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D9C163-3F39-65C8-DFD9-3BE79F32F553}"/>
              </a:ext>
            </a:extLst>
          </p:cNvPr>
          <p:cNvSpPr/>
          <p:nvPr/>
        </p:nvSpPr>
        <p:spPr>
          <a:xfrm>
            <a:off x="0" y="6685280"/>
            <a:ext cx="9144000" cy="172720"/>
          </a:xfrm>
          <a:prstGeom prst="rect">
            <a:avLst/>
          </a:prstGeom>
          <a:solidFill>
            <a:srgbClr val="673A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098" name="Picture 2" descr="Life and health insurance policy concept idea.">
            <a:extLst>
              <a:ext uri="{FF2B5EF4-FFF2-40B4-BE49-F238E27FC236}">
                <a16:creationId xmlns:a16="http://schemas.microsoft.com/office/drawing/2014/main" id="{1C05BA93-A5FF-C757-302E-1705A66A7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880" y="751840"/>
            <a:ext cx="5151120" cy="474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8023DB7-2933-1F91-D9A9-9BE866D59A4F}"/>
              </a:ext>
            </a:extLst>
          </p:cNvPr>
          <p:cNvGrpSpPr/>
          <p:nvPr/>
        </p:nvGrpSpPr>
        <p:grpSpPr>
          <a:xfrm>
            <a:off x="-72390" y="5220744"/>
            <a:ext cx="4572000" cy="1219200"/>
            <a:chOff x="4572000" y="355600"/>
            <a:chExt cx="4572000" cy="12192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45BAA2F-7341-0513-AC2B-C2027F8E5596}"/>
                </a:ext>
              </a:extLst>
            </p:cNvPr>
            <p:cNvSpPr/>
            <p:nvPr/>
          </p:nvSpPr>
          <p:spPr>
            <a:xfrm>
              <a:off x="4572000" y="355600"/>
              <a:ext cx="4572000" cy="1219200"/>
            </a:xfrm>
            <a:prstGeom prst="rect">
              <a:avLst/>
            </a:prstGeom>
            <a:solidFill>
              <a:srgbClr val="30225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CBAB05-B32F-3500-CBF9-E08FA18B3174}"/>
                </a:ext>
              </a:extLst>
            </p:cNvPr>
            <p:cNvSpPr txBox="1"/>
            <p:nvPr/>
          </p:nvSpPr>
          <p:spPr>
            <a:xfrm>
              <a:off x="5151120" y="457368"/>
              <a:ext cx="341376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Higher Reimbursement</a:t>
              </a:r>
            </a:p>
            <a:p>
              <a:r>
                <a:rPr lang="en-US" sz="1200" dirty="0">
                  <a:solidFill>
                    <a:schemeClr val="bg1"/>
                  </a:solidFill>
                </a:rPr>
                <a:t>Negotiate for improved reimbursement rates with insurers, particularly for outpatient and urgent care services to alleviate financial pressures on both the hospital and patients.</a:t>
              </a:r>
              <a:endParaRPr lang="en-IN" sz="1200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0D21766-2A1C-AE16-EEBB-DF6B53E280B0}"/>
                </a:ext>
              </a:extLst>
            </p:cNvPr>
            <p:cNvGrpSpPr/>
            <p:nvPr/>
          </p:nvGrpSpPr>
          <p:grpSpPr>
            <a:xfrm>
              <a:off x="4684395" y="694157"/>
              <a:ext cx="530860" cy="530388"/>
              <a:chOff x="0" y="3311456"/>
              <a:chExt cx="530860" cy="530388"/>
            </a:xfrm>
          </p:grpSpPr>
          <p:sp>
            <p:nvSpPr>
              <p:cNvPr id="10" name="Flowchart: Connector 9">
                <a:extLst>
                  <a:ext uri="{FF2B5EF4-FFF2-40B4-BE49-F238E27FC236}">
                    <a16:creationId xmlns:a16="http://schemas.microsoft.com/office/drawing/2014/main" id="{01542F3D-B443-7244-9FFC-95B53CD27660}"/>
                  </a:ext>
                </a:extLst>
              </p:cNvPr>
              <p:cNvSpPr/>
              <p:nvPr/>
            </p:nvSpPr>
            <p:spPr>
              <a:xfrm>
                <a:off x="0" y="3311456"/>
                <a:ext cx="477520" cy="530388"/>
              </a:xfrm>
              <a:prstGeom prst="flowChartConnector">
                <a:avLst/>
              </a:prstGeom>
              <a:solidFill>
                <a:schemeClr val="bg1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42B921-3715-E2BB-0FBF-8C5B836CCA51}"/>
                  </a:ext>
                </a:extLst>
              </p:cNvPr>
              <p:cNvSpPr txBox="1"/>
              <p:nvPr/>
            </p:nvSpPr>
            <p:spPr>
              <a:xfrm>
                <a:off x="53340" y="3395454"/>
                <a:ext cx="477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rgbClr val="673AB7"/>
                    </a:solidFill>
                    <a:latin typeface="Arial Narrow" panose="020B0606020202030204" pitchFamily="34" charset="0"/>
                  </a:rPr>
                  <a:t>01</a:t>
                </a: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5232025-8BB2-DD9B-F840-7A372B209145}"/>
              </a:ext>
            </a:extLst>
          </p:cNvPr>
          <p:cNvGrpSpPr/>
          <p:nvPr/>
        </p:nvGrpSpPr>
        <p:grpSpPr>
          <a:xfrm>
            <a:off x="4568825" y="5220744"/>
            <a:ext cx="4572000" cy="1219200"/>
            <a:chOff x="4572000" y="2106016"/>
            <a:chExt cx="4572000" cy="12192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4B50B82-FA78-CE45-7759-BE87B8738D13}"/>
                </a:ext>
              </a:extLst>
            </p:cNvPr>
            <p:cNvSpPr/>
            <p:nvPr/>
          </p:nvSpPr>
          <p:spPr>
            <a:xfrm>
              <a:off x="4572000" y="2106016"/>
              <a:ext cx="4572000" cy="1219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E50506D-B312-D8C4-80B7-7F7F7B933E97}"/>
                </a:ext>
              </a:extLst>
            </p:cNvPr>
            <p:cNvSpPr txBox="1"/>
            <p:nvPr/>
          </p:nvSpPr>
          <p:spPr>
            <a:xfrm>
              <a:off x="5290185" y="2216449"/>
              <a:ext cx="341376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Financial Support Programs</a:t>
              </a:r>
              <a:endParaRPr lang="en-IN" dirty="0">
                <a:latin typeface="Arial Narrow" panose="020B0606020202030204" pitchFamily="34" charset="0"/>
              </a:endParaRPr>
            </a:p>
            <a:p>
              <a:r>
                <a:rPr lang="en-US" sz="1200" dirty="0">
                  <a:latin typeface="Arial Narrow" panose="020B0606020202030204" pitchFamily="34" charset="0"/>
                </a:rPr>
                <a:t>Enhance patient financial assistance initiatives to reduce out-of-pocket expenses, providing transparency and support for patients facing high costs from low insurance coverage.</a:t>
              </a:r>
              <a:endParaRPr lang="en-IN" sz="1200" dirty="0">
                <a:latin typeface="Arial Narrow" panose="020B0606020202030204" pitchFamily="34" charset="0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C55EDCD-DA34-3817-3658-089869B09069}"/>
                </a:ext>
              </a:extLst>
            </p:cNvPr>
            <p:cNvGrpSpPr/>
            <p:nvPr/>
          </p:nvGrpSpPr>
          <p:grpSpPr>
            <a:xfrm>
              <a:off x="4641215" y="2440017"/>
              <a:ext cx="530860" cy="530388"/>
              <a:chOff x="0" y="1341120"/>
              <a:chExt cx="530860" cy="530388"/>
            </a:xfrm>
          </p:grpSpPr>
          <p:sp>
            <p:nvSpPr>
              <p:cNvPr id="23" name="Flowchart: Connector 22">
                <a:extLst>
                  <a:ext uri="{FF2B5EF4-FFF2-40B4-BE49-F238E27FC236}">
                    <a16:creationId xmlns:a16="http://schemas.microsoft.com/office/drawing/2014/main" id="{77FF745A-3FFB-EE6D-3238-7ADB6C781BAB}"/>
                  </a:ext>
                </a:extLst>
              </p:cNvPr>
              <p:cNvSpPr/>
              <p:nvPr/>
            </p:nvSpPr>
            <p:spPr>
              <a:xfrm>
                <a:off x="0" y="1341120"/>
                <a:ext cx="477520" cy="530388"/>
              </a:xfrm>
              <a:prstGeom prst="flowChartConnector">
                <a:avLst/>
              </a:prstGeom>
              <a:solidFill>
                <a:srgbClr val="673AB7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81193F3-BDE1-94EF-ED8B-ED5A21673A43}"/>
                  </a:ext>
                </a:extLst>
              </p:cNvPr>
              <p:cNvSpPr txBox="1"/>
              <p:nvPr/>
            </p:nvSpPr>
            <p:spPr>
              <a:xfrm>
                <a:off x="53340" y="1425118"/>
                <a:ext cx="477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02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3732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D373EA-0F3E-4F91-07C1-F67EA9A13012}"/>
              </a:ext>
            </a:extLst>
          </p:cNvPr>
          <p:cNvSpPr/>
          <p:nvPr/>
        </p:nvSpPr>
        <p:spPr>
          <a:xfrm>
            <a:off x="0" y="6685280"/>
            <a:ext cx="9144000" cy="172720"/>
          </a:xfrm>
          <a:prstGeom prst="rect">
            <a:avLst/>
          </a:prstGeom>
          <a:solidFill>
            <a:srgbClr val="673A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5AED90-54F4-C2AD-675A-9916D08D9F0F}"/>
              </a:ext>
            </a:extLst>
          </p:cNvPr>
          <p:cNvSpPr txBox="1"/>
          <p:nvPr/>
        </p:nvSpPr>
        <p:spPr>
          <a:xfrm>
            <a:off x="325120" y="135942"/>
            <a:ext cx="828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673AB7"/>
                </a:solidFill>
                <a:latin typeface="Arial Narrow" panose="020B0606020202030204" pitchFamily="34" charset="0"/>
              </a:rPr>
              <a:t>Impact of Insurance Coverage on Patient Cost</a:t>
            </a:r>
            <a:endParaRPr lang="en-IN" sz="3600" b="1" dirty="0">
              <a:solidFill>
                <a:srgbClr val="673AB7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A3C2CCB-07F0-4CAA-FB72-38A7757B2005}"/>
              </a:ext>
            </a:extLst>
          </p:cNvPr>
          <p:cNvGrpSpPr/>
          <p:nvPr/>
        </p:nvGrpSpPr>
        <p:grpSpPr>
          <a:xfrm>
            <a:off x="1066310" y="1316884"/>
            <a:ext cx="1771897" cy="1223311"/>
            <a:chOff x="2050291" y="1282651"/>
            <a:chExt cx="1771897" cy="122331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761069E-6832-BFCA-777F-DE18429E1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9950" y="1282651"/>
              <a:ext cx="752580" cy="67636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7BC8E34-4948-BC3B-4EA7-D079EFC48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50291" y="2048698"/>
              <a:ext cx="1771897" cy="457264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DAABBE8-F884-D8EE-ADBF-99336AB43404}"/>
                </a:ext>
              </a:extLst>
            </p:cNvPr>
            <p:cNvCxnSpPr>
              <a:cxnSpLocks/>
            </p:cNvCxnSpPr>
            <p:nvPr/>
          </p:nvCxnSpPr>
          <p:spPr>
            <a:xfrm>
              <a:off x="2936240" y="1928540"/>
              <a:ext cx="0" cy="28496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7441F51-5336-97D2-8826-DA8ED0AA7B88}"/>
              </a:ext>
            </a:extLst>
          </p:cNvPr>
          <p:cNvCxnSpPr>
            <a:stCxn id="9" idx="3"/>
          </p:cNvCxnSpPr>
          <p:nvPr/>
        </p:nvCxnSpPr>
        <p:spPr>
          <a:xfrm>
            <a:off x="2838207" y="2311563"/>
            <a:ext cx="749812" cy="86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C4EDFE0-8257-A921-EE1E-D32306F92B51}"/>
              </a:ext>
            </a:extLst>
          </p:cNvPr>
          <p:cNvGrpSpPr/>
          <p:nvPr/>
        </p:nvGrpSpPr>
        <p:grpSpPr>
          <a:xfrm>
            <a:off x="5594085" y="1318771"/>
            <a:ext cx="2483605" cy="1151865"/>
            <a:chOff x="4572000" y="1287413"/>
            <a:chExt cx="2483605" cy="1151865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D0CCC63-CFBF-697C-12C3-FDA528061ADB}"/>
                </a:ext>
              </a:extLst>
            </p:cNvPr>
            <p:cNvGrpSpPr/>
            <p:nvPr/>
          </p:nvGrpSpPr>
          <p:grpSpPr>
            <a:xfrm>
              <a:off x="5302760" y="1287413"/>
              <a:ext cx="1752845" cy="1151865"/>
              <a:chOff x="5302760" y="1287413"/>
              <a:chExt cx="1752845" cy="1151865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7B5058E3-14AC-BE97-A392-2E25EE45C0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1472" y="1287413"/>
                <a:ext cx="695422" cy="666843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700DFF0-EEAE-D84B-AA5C-32FFF7B235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02760" y="2048698"/>
                <a:ext cx="1752845" cy="390580"/>
              </a:xfrm>
              <a:prstGeom prst="rect">
                <a:avLst/>
              </a:prstGeom>
            </p:spPr>
          </p:pic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38540199-BC1E-72BA-72E7-89650A50A2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67120" y="1867580"/>
                <a:ext cx="0" cy="284968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293B5A9-AF31-E453-F8ED-4CF96C82789C}"/>
                </a:ext>
              </a:extLst>
            </p:cNvPr>
            <p:cNvCxnSpPr/>
            <p:nvPr/>
          </p:nvCxnSpPr>
          <p:spPr>
            <a:xfrm>
              <a:off x="4572000" y="2297650"/>
              <a:ext cx="749812" cy="867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E15FCF5-8E03-9712-83FC-E2F514A4FDD4}"/>
              </a:ext>
            </a:extLst>
          </p:cNvPr>
          <p:cNvCxnSpPr/>
          <p:nvPr/>
        </p:nvCxnSpPr>
        <p:spPr>
          <a:xfrm>
            <a:off x="3588019" y="2329008"/>
            <a:ext cx="0" cy="3817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D11624F-5AD0-FCCA-351F-7A7C335AE7A5}"/>
              </a:ext>
            </a:extLst>
          </p:cNvPr>
          <p:cNvCxnSpPr/>
          <p:nvPr/>
        </p:nvCxnSpPr>
        <p:spPr>
          <a:xfrm>
            <a:off x="5594085" y="2327518"/>
            <a:ext cx="0" cy="38177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F45B4C76-1CC8-81A1-54BC-ED8370AA31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2729" y="2858713"/>
            <a:ext cx="390580" cy="43821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F41E69E-D1B4-04C8-DF8B-8224BF5B69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0834" y="3713585"/>
            <a:ext cx="314369" cy="42868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3D8623A-7D8D-DA6B-FD9F-5DF0E34281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6717" y="4701070"/>
            <a:ext cx="333422" cy="35247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AE4B13F-13A3-1C57-2BC8-4C6D635C43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6557" y="5719893"/>
            <a:ext cx="342948" cy="36200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D29D870-70E3-C62B-8886-246F65C2BA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3558" y="2900289"/>
            <a:ext cx="381053" cy="35247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5A4560B-8557-D6F3-07FD-1B0FBFB058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03558" y="3742300"/>
            <a:ext cx="390580" cy="37152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223EAED-4BB1-765C-5FB6-80B52081454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22611" y="4668471"/>
            <a:ext cx="371527" cy="40010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0E0C76F-49FF-BEC0-6480-21B9E1029B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64497" y="5649880"/>
            <a:ext cx="447737" cy="40963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FCF3943-8D85-517F-7AA5-BE4C98A7FDBF}"/>
              </a:ext>
            </a:extLst>
          </p:cNvPr>
          <p:cNvSpPr txBox="1"/>
          <p:nvPr/>
        </p:nvSpPr>
        <p:spPr>
          <a:xfrm>
            <a:off x="9695" y="2786221"/>
            <a:ext cx="3213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Reduces Financial Burden on Patients</a:t>
            </a:r>
          </a:p>
          <a:p>
            <a:pPr algn="r"/>
            <a:r>
              <a:rPr lang="en-US" sz="1100" dirty="0">
                <a:latin typeface="Arial Narrow" panose="020B0606020202030204" pitchFamily="34" charset="0"/>
              </a:rPr>
              <a:t>Insurance significantly lowers out-of-pocket costs for patients, making healthcare services more affordable</a:t>
            </a:r>
            <a:endParaRPr lang="en-IN" sz="1100" dirty="0">
              <a:latin typeface="Arial Narrow" panose="020B060602020203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000C9B6-FBEF-8732-4C91-C96A37AC45B0}"/>
              </a:ext>
            </a:extLst>
          </p:cNvPr>
          <p:cNvSpPr txBox="1"/>
          <p:nvPr/>
        </p:nvSpPr>
        <p:spPr>
          <a:xfrm>
            <a:off x="-81280" y="3590083"/>
            <a:ext cx="3385520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Encourages Preventive &amp; Timely Care</a:t>
            </a:r>
          </a:p>
          <a:p>
            <a:pPr algn="r"/>
            <a:r>
              <a:rPr lang="en-US" sz="1100" dirty="0">
                <a:latin typeface="Arial Narrow" panose="020B0606020202030204" pitchFamily="34" charset="0"/>
              </a:rPr>
              <a:t>Patients with strong insurance coverage are more likely to seek early medical intervention instead of delaying care due to cost concerns</a:t>
            </a:r>
            <a:endParaRPr lang="en-IN" sz="1100" dirty="0">
              <a:latin typeface="Arial Narrow" panose="020B060602020203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D91E38-51C3-10D1-DCDF-CDC4D75CBFC3}"/>
              </a:ext>
            </a:extLst>
          </p:cNvPr>
          <p:cNvSpPr txBox="1"/>
          <p:nvPr/>
        </p:nvSpPr>
        <p:spPr>
          <a:xfrm>
            <a:off x="-17395" y="4435154"/>
            <a:ext cx="3385520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 Improves Hospital Revenue &amp; Cash Flow</a:t>
            </a:r>
          </a:p>
          <a:p>
            <a:pPr algn="r"/>
            <a:r>
              <a:rPr lang="en-US" sz="1100" dirty="0">
                <a:latin typeface="Arial Narrow" panose="020B0606020202030204" pitchFamily="34" charset="0"/>
              </a:rPr>
              <a:t>Hospitals receive timely payments from insurers, ensuring a steady financial inflow rather than relying on delayed or unpaid patient bills.</a:t>
            </a:r>
            <a:endParaRPr lang="en-IN" sz="1100" dirty="0">
              <a:latin typeface="Arial Narrow" panose="020B060602020203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C2AFF1-4BE5-89C2-DB7C-7554AAD1DCF0}"/>
              </a:ext>
            </a:extLst>
          </p:cNvPr>
          <p:cNvSpPr txBox="1"/>
          <p:nvPr/>
        </p:nvSpPr>
        <p:spPr>
          <a:xfrm>
            <a:off x="10380" y="5493089"/>
            <a:ext cx="3385520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Increases Access to Advanced Treatments</a:t>
            </a:r>
          </a:p>
          <a:p>
            <a:pPr algn="r"/>
            <a:r>
              <a:rPr lang="en-US" sz="1100" dirty="0">
                <a:latin typeface="Arial Narrow" panose="020B0606020202030204" pitchFamily="34" charset="0"/>
              </a:rPr>
              <a:t>Patients with comprehensive insurance have access to high-cost medical procedures, specialized treatments, and better medications without extreme financial stress.</a:t>
            </a:r>
            <a:endParaRPr lang="en-IN" sz="1100" dirty="0">
              <a:latin typeface="Arial Narrow" panose="020B060602020203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159F43-C058-EE4F-71C5-F2F696987151}"/>
              </a:ext>
            </a:extLst>
          </p:cNvPr>
          <p:cNvSpPr txBox="1"/>
          <p:nvPr/>
        </p:nvSpPr>
        <p:spPr>
          <a:xfrm>
            <a:off x="5836411" y="2802565"/>
            <a:ext cx="3399028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High Cost for Uninsured &amp; Underinsured Patients</a:t>
            </a:r>
          </a:p>
          <a:p>
            <a:r>
              <a:rPr lang="en-US" sz="1100" dirty="0">
                <a:latin typeface="Arial Narrow" panose="020B0606020202030204" pitchFamily="34" charset="0"/>
              </a:rPr>
              <a:t>A large percentage of Atrial Fibrillation (75%) and Common Pregnancy (39%) patients have no insurance, leading to significant out-of-pocket expenses.</a:t>
            </a:r>
            <a:endParaRPr lang="en-IN" sz="1100" dirty="0">
              <a:latin typeface="Arial Narrow" panose="020B060602020203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E004DE6-346A-FE7C-45B1-E9A80BB2C73C}"/>
              </a:ext>
            </a:extLst>
          </p:cNvPr>
          <p:cNvSpPr txBox="1"/>
          <p:nvPr/>
        </p:nvSpPr>
        <p:spPr>
          <a:xfrm>
            <a:off x="5823674" y="3585975"/>
            <a:ext cx="3399028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Administrative &amp; Billing Complexities</a:t>
            </a:r>
          </a:p>
          <a:p>
            <a:r>
              <a:rPr lang="en-US" sz="1100" dirty="0">
                <a:latin typeface="Arial Narrow" panose="020B0606020202030204" pitchFamily="34" charset="0"/>
              </a:rPr>
              <a:t>Hospitals must navigate complex insurance policies, claim denials, and reimbursement delays that increase administrative burdens..</a:t>
            </a:r>
            <a:endParaRPr lang="en-IN" sz="1100" dirty="0">
              <a:latin typeface="Arial Narrow" panose="020B0606020202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F32E48-1D9D-082E-58F8-CFD4B3408268}"/>
              </a:ext>
            </a:extLst>
          </p:cNvPr>
          <p:cNvSpPr txBox="1"/>
          <p:nvPr/>
        </p:nvSpPr>
        <p:spPr>
          <a:xfrm>
            <a:off x="5823674" y="4493231"/>
            <a:ext cx="3399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Coverage Limitations &amp; Hidden Costs</a:t>
            </a:r>
          </a:p>
          <a:p>
            <a:r>
              <a:rPr lang="en-US" sz="1100" dirty="0">
                <a:latin typeface="Arial Narrow" panose="020B0606020202030204" pitchFamily="34" charset="0"/>
              </a:rPr>
              <a:t>Some insurance plans provide limited coverage, excluding certain procedures, medications, or treatments.</a:t>
            </a:r>
            <a:endParaRPr lang="en-IN" sz="1100" dirty="0">
              <a:latin typeface="Arial Narrow" panose="020B060602020203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9C6C46-F0F0-08CA-DE4B-A705AEFCCB34}"/>
              </a:ext>
            </a:extLst>
          </p:cNvPr>
          <p:cNvSpPr txBox="1"/>
          <p:nvPr/>
        </p:nvSpPr>
        <p:spPr>
          <a:xfrm>
            <a:off x="5843211" y="5498979"/>
            <a:ext cx="3399028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Potential Overutilization of Healthcare Services</a:t>
            </a:r>
          </a:p>
          <a:p>
            <a:r>
              <a:rPr lang="en-US" sz="1100" dirty="0">
                <a:latin typeface="Arial Narrow" panose="020B0606020202030204" pitchFamily="34" charset="0"/>
              </a:rPr>
              <a:t>Patients with extensive insurance coverage may overuse medical services, leading to unnecessary tests, procedures, and longer hospital stays.</a:t>
            </a:r>
            <a:endParaRPr lang="en-IN" sz="11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516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FB81C5-9F93-F377-0D1E-E6B18ECCEECE}"/>
              </a:ext>
            </a:extLst>
          </p:cNvPr>
          <p:cNvSpPr txBox="1"/>
          <p:nvPr/>
        </p:nvSpPr>
        <p:spPr>
          <a:xfrm>
            <a:off x="325120" y="135942"/>
            <a:ext cx="873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673AB7"/>
                </a:solidFill>
                <a:latin typeface="Arial Narrow" panose="020B0606020202030204" pitchFamily="34" charset="0"/>
              </a:rPr>
              <a:t>Procedure Specific Insights and Recommendation </a:t>
            </a:r>
            <a:endParaRPr lang="en-IN" sz="3600" b="1" dirty="0">
              <a:solidFill>
                <a:srgbClr val="673AB7"/>
              </a:solidFill>
              <a:latin typeface="Arial Narrow" panose="020B0606020202030204" pitchFamily="34" charset="0"/>
            </a:endParaRPr>
          </a:p>
        </p:txBody>
      </p:sp>
      <p:pic>
        <p:nvPicPr>
          <p:cNvPr id="10244" name="Picture 4" descr="Infographic elements design">
            <a:extLst>
              <a:ext uri="{FF2B5EF4-FFF2-40B4-BE49-F238E27FC236}">
                <a16:creationId xmlns:a16="http://schemas.microsoft.com/office/drawing/2014/main" id="{3C4E3995-2C1C-4648-8CBF-B15AABB688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387"/>
          <a:stretch/>
        </p:blipFill>
        <p:spPr bwMode="auto">
          <a:xfrm>
            <a:off x="7223760" y="630555"/>
            <a:ext cx="1920240" cy="2671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African man in a black suit.">
            <a:extLst>
              <a:ext uri="{FF2B5EF4-FFF2-40B4-BE49-F238E27FC236}">
                <a16:creationId xmlns:a16="http://schemas.microsoft.com/office/drawing/2014/main" id="{A2A31555-24C4-190F-1C42-E9A46EC7E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906352"/>
            <a:ext cx="2854960" cy="283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16E527B-499C-6759-44FA-DE894152394B}"/>
              </a:ext>
            </a:extLst>
          </p:cNvPr>
          <p:cNvSpPr/>
          <p:nvPr/>
        </p:nvSpPr>
        <p:spPr>
          <a:xfrm>
            <a:off x="0" y="6685280"/>
            <a:ext cx="9144000" cy="172720"/>
          </a:xfrm>
          <a:prstGeom prst="rect">
            <a:avLst/>
          </a:prstGeom>
          <a:solidFill>
            <a:srgbClr val="673A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F1B0A96-A1A2-20F8-C2B8-B7519DF6B30D}"/>
              </a:ext>
            </a:extLst>
          </p:cNvPr>
          <p:cNvGrpSpPr/>
          <p:nvPr/>
        </p:nvGrpSpPr>
        <p:grpSpPr>
          <a:xfrm>
            <a:off x="406400" y="2946399"/>
            <a:ext cx="4165600" cy="1219200"/>
            <a:chOff x="4572000" y="355600"/>
            <a:chExt cx="4572000" cy="12192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7DD6CB6-30B5-C406-66FB-C87506AC9D17}"/>
                </a:ext>
              </a:extLst>
            </p:cNvPr>
            <p:cNvSpPr/>
            <p:nvPr/>
          </p:nvSpPr>
          <p:spPr>
            <a:xfrm>
              <a:off x="4572000" y="355600"/>
              <a:ext cx="4572000" cy="1219200"/>
            </a:xfrm>
            <a:prstGeom prst="rect">
              <a:avLst/>
            </a:prstGeom>
            <a:solidFill>
              <a:srgbClr val="30225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0F0AE17-6160-A8C1-0F7E-45FF0CC96A8D}"/>
                </a:ext>
              </a:extLst>
            </p:cNvPr>
            <p:cNvSpPr txBox="1"/>
            <p:nvPr/>
          </p:nvSpPr>
          <p:spPr>
            <a:xfrm>
              <a:off x="5151120" y="457368"/>
              <a:ext cx="341376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Solution Offered</a:t>
              </a:r>
            </a:p>
            <a:p>
              <a:endParaRPr lang="en-IN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  <a:p>
              <a:r>
                <a:rPr lang="en-US" sz="1200" dirty="0">
                  <a:solidFill>
                    <a:schemeClr val="bg1"/>
                  </a:solidFill>
                </a:rPr>
                <a:t> Develop specialized treatment centers for Patients.</a:t>
              </a:r>
              <a:endParaRPr lang="en-IN" sz="1200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F36245B-1A8E-1387-B186-2C0B6BDA2BEE}"/>
                </a:ext>
              </a:extLst>
            </p:cNvPr>
            <p:cNvGrpSpPr/>
            <p:nvPr/>
          </p:nvGrpSpPr>
          <p:grpSpPr>
            <a:xfrm>
              <a:off x="4684395" y="694157"/>
              <a:ext cx="530860" cy="530388"/>
              <a:chOff x="0" y="3311456"/>
              <a:chExt cx="530860" cy="530388"/>
            </a:xfrm>
          </p:grpSpPr>
          <p:sp>
            <p:nvSpPr>
              <p:cNvPr id="8" name="Flowchart: Connector 7">
                <a:extLst>
                  <a:ext uri="{FF2B5EF4-FFF2-40B4-BE49-F238E27FC236}">
                    <a16:creationId xmlns:a16="http://schemas.microsoft.com/office/drawing/2014/main" id="{4E7FA744-0A6E-08DF-6492-EB9951D0C6B3}"/>
                  </a:ext>
                </a:extLst>
              </p:cNvPr>
              <p:cNvSpPr/>
              <p:nvPr/>
            </p:nvSpPr>
            <p:spPr>
              <a:xfrm>
                <a:off x="0" y="3311456"/>
                <a:ext cx="477520" cy="530388"/>
              </a:xfrm>
              <a:prstGeom prst="flowChartConnector">
                <a:avLst/>
              </a:prstGeom>
              <a:solidFill>
                <a:schemeClr val="bg1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47FFA-CF9B-4CEB-5CA6-99413ECFD76A}"/>
                  </a:ext>
                </a:extLst>
              </p:cNvPr>
              <p:cNvSpPr txBox="1"/>
              <p:nvPr/>
            </p:nvSpPr>
            <p:spPr>
              <a:xfrm>
                <a:off x="53340" y="3395454"/>
                <a:ext cx="477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rgbClr val="673AB7"/>
                    </a:solidFill>
                    <a:latin typeface="Arial Narrow" panose="020B0606020202030204" pitchFamily="34" charset="0"/>
                  </a:rPr>
                  <a:t>04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3BA6B3-E98D-961F-E7AF-E61265736709}"/>
              </a:ext>
            </a:extLst>
          </p:cNvPr>
          <p:cNvGrpSpPr/>
          <p:nvPr/>
        </p:nvGrpSpPr>
        <p:grpSpPr>
          <a:xfrm>
            <a:off x="406400" y="1151059"/>
            <a:ext cx="4165600" cy="1219200"/>
            <a:chOff x="4572000" y="2106016"/>
            <a:chExt cx="4572000" cy="12192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0AE3233-DD59-209A-88F0-1B42CF8DAED5}"/>
                </a:ext>
              </a:extLst>
            </p:cNvPr>
            <p:cNvSpPr/>
            <p:nvPr/>
          </p:nvSpPr>
          <p:spPr>
            <a:xfrm>
              <a:off x="4572000" y="2106016"/>
              <a:ext cx="4572000" cy="1219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CACEEA7-1B6C-A1E1-243A-E7CE8E3968FE}"/>
                </a:ext>
              </a:extLst>
            </p:cNvPr>
            <p:cNvSpPr txBox="1"/>
            <p:nvPr/>
          </p:nvSpPr>
          <p:spPr>
            <a:xfrm>
              <a:off x="5290185" y="2216449"/>
              <a:ext cx="341376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Problem Faced</a:t>
              </a:r>
            </a:p>
            <a:p>
              <a:endParaRPr lang="en-IN" dirty="0">
                <a:latin typeface="Arial Narrow" panose="020B0606020202030204" pitchFamily="34" charset="0"/>
              </a:endParaRPr>
            </a:p>
            <a:p>
              <a:r>
                <a:rPr lang="en-US" sz="1200" dirty="0">
                  <a:latin typeface="Arial Narrow" panose="020B0606020202030204" pitchFamily="34" charset="0"/>
                </a:rPr>
                <a:t>High cost associated with managing Atrial Fibrillation.</a:t>
              </a:r>
              <a:endParaRPr lang="en-IN" sz="1200" dirty="0">
                <a:latin typeface="Arial Narrow" panose="020B0606020202030204" pitchFamily="34" charset="0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C3FE5B0-F6B3-4B46-78E5-C5AE6B535CC6}"/>
                </a:ext>
              </a:extLst>
            </p:cNvPr>
            <p:cNvGrpSpPr/>
            <p:nvPr/>
          </p:nvGrpSpPr>
          <p:grpSpPr>
            <a:xfrm>
              <a:off x="4641215" y="2440017"/>
              <a:ext cx="530860" cy="530388"/>
              <a:chOff x="0" y="1341120"/>
              <a:chExt cx="530860" cy="530388"/>
            </a:xfrm>
          </p:grpSpPr>
          <p:sp>
            <p:nvSpPr>
              <p:cNvPr id="14" name="Flowchart: Connector 13">
                <a:extLst>
                  <a:ext uri="{FF2B5EF4-FFF2-40B4-BE49-F238E27FC236}">
                    <a16:creationId xmlns:a16="http://schemas.microsoft.com/office/drawing/2014/main" id="{AD7FEF18-AF03-3ABC-4805-CB48307FA753}"/>
                  </a:ext>
                </a:extLst>
              </p:cNvPr>
              <p:cNvSpPr/>
              <p:nvPr/>
            </p:nvSpPr>
            <p:spPr>
              <a:xfrm>
                <a:off x="0" y="1341120"/>
                <a:ext cx="477520" cy="530388"/>
              </a:xfrm>
              <a:prstGeom prst="flowChartConnector">
                <a:avLst/>
              </a:prstGeom>
              <a:solidFill>
                <a:srgbClr val="673AB7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27EAE79-11F6-D992-0FAB-C27347599F40}"/>
                  </a:ext>
                </a:extLst>
              </p:cNvPr>
              <p:cNvSpPr txBox="1"/>
              <p:nvPr/>
            </p:nvSpPr>
            <p:spPr>
              <a:xfrm>
                <a:off x="53340" y="1425118"/>
                <a:ext cx="477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05</a:t>
                </a:r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2E645DF-A525-12E5-A366-84264DFF0243}"/>
              </a:ext>
            </a:extLst>
          </p:cNvPr>
          <p:cNvGrpSpPr/>
          <p:nvPr/>
        </p:nvGrpSpPr>
        <p:grpSpPr>
          <a:xfrm>
            <a:off x="469463" y="4842580"/>
            <a:ext cx="4102537" cy="1219200"/>
            <a:chOff x="4572000" y="2106016"/>
            <a:chExt cx="4572000" cy="12192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489BF9-7067-91D8-D75E-12A75C68834A}"/>
                </a:ext>
              </a:extLst>
            </p:cNvPr>
            <p:cNvSpPr/>
            <p:nvPr/>
          </p:nvSpPr>
          <p:spPr>
            <a:xfrm>
              <a:off x="4572000" y="2106016"/>
              <a:ext cx="4572000" cy="1219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28BF663-CB59-3868-757E-BEFBE5A29985}"/>
                </a:ext>
              </a:extLst>
            </p:cNvPr>
            <p:cNvSpPr txBox="1"/>
            <p:nvPr/>
          </p:nvSpPr>
          <p:spPr>
            <a:xfrm>
              <a:off x="5290185" y="2216449"/>
              <a:ext cx="341376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Benefits</a:t>
              </a:r>
            </a:p>
            <a:p>
              <a:endParaRPr lang="en-IN" dirty="0">
                <a:latin typeface="Arial Narrow" panose="020B0606020202030204" pitchFamily="34" charset="0"/>
              </a:endParaRPr>
            </a:p>
            <a:p>
              <a:r>
                <a:rPr lang="en-US" sz="1200" dirty="0">
                  <a:latin typeface="Arial Narrow" panose="020B0606020202030204" pitchFamily="34" charset="0"/>
                </a:rPr>
                <a:t>Improved efficiency and reduced patient costs.</a:t>
              </a:r>
              <a:endParaRPr lang="en-IN" sz="1200" dirty="0">
                <a:latin typeface="Arial Narrow" panose="020B0606020202030204" pitchFamily="34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E1CA649-C684-98DE-963F-604E48369E17}"/>
                </a:ext>
              </a:extLst>
            </p:cNvPr>
            <p:cNvGrpSpPr/>
            <p:nvPr/>
          </p:nvGrpSpPr>
          <p:grpSpPr>
            <a:xfrm>
              <a:off x="4641215" y="2440017"/>
              <a:ext cx="530860" cy="530388"/>
              <a:chOff x="0" y="1341120"/>
              <a:chExt cx="530860" cy="530388"/>
            </a:xfrm>
          </p:grpSpPr>
          <p:sp>
            <p:nvSpPr>
              <p:cNvPr id="20" name="Flowchart: Connector 19">
                <a:extLst>
                  <a:ext uri="{FF2B5EF4-FFF2-40B4-BE49-F238E27FC236}">
                    <a16:creationId xmlns:a16="http://schemas.microsoft.com/office/drawing/2014/main" id="{A8115BA3-8BEF-9B66-1B5F-6A1574BFF710}"/>
                  </a:ext>
                </a:extLst>
              </p:cNvPr>
              <p:cNvSpPr/>
              <p:nvPr/>
            </p:nvSpPr>
            <p:spPr>
              <a:xfrm>
                <a:off x="0" y="1341120"/>
                <a:ext cx="477520" cy="530388"/>
              </a:xfrm>
              <a:prstGeom prst="flowChartConnector">
                <a:avLst/>
              </a:prstGeom>
              <a:solidFill>
                <a:srgbClr val="673AB7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9094514-34ED-1CA9-211E-A3C13CE1F89C}"/>
                  </a:ext>
                </a:extLst>
              </p:cNvPr>
              <p:cNvSpPr txBox="1"/>
              <p:nvPr/>
            </p:nvSpPr>
            <p:spPr>
              <a:xfrm>
                <a:off x="53340" y="1425118"/>
                <a:ext cx="477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05</a:t>
                </a:r>
              </a:p>
            </p:txBody>
          </p:sp>
        </p:grp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39863ABC-F6A4-35A3-E536-9DBEA06EA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1403325"/>
            <a:ext cx="647712" cy="7201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581D1CA-2A90-925C-4FF8-C5D6FEF738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5" y="3293970"/>
            <a:ext cx="552657" cy="57694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BCBF1B9-E1BC-9816-2997-D3D660155E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462" y="5004738"/>
            <a:ext cx="739153" cy="78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98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BDCF5492-5CEE-4917-30AD-C49E0F68CC16}"/>
              </a:ext>
            </a:extLst>
          </p:cNvPr>
          <p:cNvSpPr/>
          <p:nvPr/>
        </p:nvSpPr>
        <p:spPr>
          <a:xfrm flipV="1">
            <a:off x="2315849" y="1342662"/>
            <a:ext cx="4512301" cy="4444679"/>
          </a:xfrm>
          <a:prstGeom prst="triangle">
            <a:avLst/>
          </a:prstGeom>
          <a:gradFill flip="none" rotWithShape="1">
            <a:gsLst>
              <a:gs pos="0">
                <a:srgbClr val="673AB7">
                  <a:tint val="66000"/>
                  <a:satMod val="160000"/>
                </a:srgbClr>
              </a:gs>
              <a:gs pos="50000">
                <a:srgbClr val="673AB7">
                  <a:tint val="44500"/>
                  <a:satMod val="160000"/>
                </a:srgbClr>
              </a:gs>
              <a:gs pos="100000">
                <a:srgbClr val="673AB7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9746C87-F120-D546-4FFA-C6484E560FB1}"/>
              </a:ext>
            </a:extLst>
          </p:cNvPr>
          <p:cNvGrpSpPr/>
          <p:nvPr/>
        </p:nvGrpSpPr>
        <p:grpSpPr>
          <a:xfrm>
            <a:off x="1562582" y="1109152"/>
            <a:ext cx="6099858" cy="4325161"/>
            <a:chOff x="1562582" y="1109152"/>
            <a:chExt cx="6099858" cy="432516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57985F1-FE6E-736B-18AD-FBB96D9F1216}"/>
                </a:ext>
              </a:extLst>
            </p:cNvPr>
            <p:cNvSpPr/>
            <p:nvPr/>
          </p:nvSpPr>
          <p:spPr>
            <a:xfrm>
              <a:off x="2951549" y="4461539"/>
              <a:ext cx="282666" cy="307273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7878088-090C-B91A-D4B0-9DE699DCE406}"/>
                </a:ext>
              </a:extLst>
            </p:cNvPr>
            <p:cNvSpPr/>
            <p:nvPr/>
          </p:nvSpPr>
          <p:spPr>
            <a:xfrm>
              <a:off x="2536230" y="3221962"/>
              <a:ext cx="282666" cy="307273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94FE45B-B0DC-26C2-8B25-B100389E3DF5}"/>
                </a:ext>
              </a:extLst>
            </p:cNvPr>
            <p:cNvSpPr/>
            <p:nvPr/>
          </p:nvSpPr>
          <p:spPr>
            <a:xfrm>
              <a:off x="1849512" y="1866059"/>
              <a:ext cx="282666" cy="307273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712D8A9-9C24-578D-D903-A5EAF9F15426}"/>
                </a:ext>
              </a:extLst>
            </p:cNvPr>
            <p:cNvSpPr/>
            <p:nvPr/>
          </p:nvSpPr>
          <p:spPr>
            <a:xfrm>
              <a:off x="6386784" y="3821820"/>
              <a:ext cx="282666" cy="307273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E41C62-F557-533F-EDE5-A5ED0CE0087A}"/>
                </a:ext>
              </a:extLst>
            </p:cNvPr>
            <p:cNvSpPr/>
            <p:nvPr/>
          </p:nvSpPr>
          <p:spPr>
            <a:xfrm>
              <a:off x="6076856" y="5090278"/>
              <a:ext cx="282666" cy="307273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89A66C1-30EC-1DB8-827C-118721E4B3ED}"/>
                </a:ext>
              </a:extLst>
            </p:cNvPr>
            <p:cNvSpPr/>
            <p:nvPr/>
          </p:nvSpPr>
          <p:spPr>
            <a:xfrm>
              <a:off x="6645238" y="2430912"/>
              <a:ext cx="286784" cy="31388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45EE9FF-FDF6-280B-67A7-81125A4DC609}"/>
                </a:ext>
              </a:extLst>
            </p:cNvPr>
            <p:cNvSpPr/>
            <p:nvPr/>
          </p:nvSpPr>
          <p:spPr>
            <a:xfrm>
              <a:off x="7032533" y="1109152"/>
              <a:ext cx="282666" cy="307273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CC57BB-AA63-02AD-539B-F044AEFA607B}"/>
                </a:ext>
              </a:extLst>
            </p:cNvPr>
            <p:cNvSpPr/>
            <p:nvPr/>
          </p:nvSpPr>
          <p:spPr>
            <a:xfrm>
              <a:off x="2488557" y="1782501"/>
              <a:ext cx="4190035" cy="2893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DD6A4D8-B2D0-4F0F-F77D-7D708BA456E8}"/>
                </a:ext>
              </a:extLst>
            </p:cNvPr>
            <p:cNvSpPr/>
            <p:nvPr/>
          </p:nvSpPr>
          <p:spPr>
            <a:xfrm>
              <a:off x="2372807" y="2481006"/>
              <a:ext cx="4190035" cy="2893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053149-8831-8338-53D7-5EB834167E86}"/>
                </a:ext>
              </a:extLst>
            </p:cNvPr>
            <p:cNvSpPr/>
            <p:nvPr/>
          </p:nvSpPr>
          <p:spPr>
            <a:xfrm>
              <a:off x="2916824" y="3139633"/>
              <a:ext cx="4190035" cy="2893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951FEB5-AD2A-2B97-99E5-005F41AC343F}"/>
                </a:ext>
              </a:extLst>
            </p:cNvPr>
            <p:cNvSpPr/>
            <p:nvPr/>
          </p:nvSpPr>
          <p:spPr>
            <a:xfrm>
              <a:off x="1979270" y="3803083"/>
              <a:ext cx="4190035" cy="2893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F105E59-0E0E-101D-6716-0D9D19E8338A}"/>
                </a:ext>
              </a:extLst>
            </p:cNvPr>
            <p:cNvSpPr/>
            <p:nvPr/>
          </p:nvSpPr>
          <p:spPr>
            <a:xfrm>
              <a:off x="3472405" y="4460746"/>
              <a:ext cx="4190035" cy="2893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59E2FBD-D2B4-6ADD-C18F-92624C7CE474}"/>
                </a:ext>
              </a:extLst>
            </p:cNvPr>
            <p:cNvSpPr/>
            <p:nvPr/>
          </p:nvSpPr>
          <p:spPr>
            <a:xfrm>
              <a:off x="1562582" y="5144946"/>
              <a:ext cx="4190035" cy="2893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14EB8F5-911F-62DD-A0A9-D057CFCAC7D8}"/>
                </a:ext>
              </a:extLst>
            </p:cNvPr>
            <p:cNvSpPr txBox="1"/>
            <p:nvPr/>
          </p:nvSpPr>
          <p:spPr>
            <a:xfrm>
              <a:off x="7000858" y="1109950"/>
              <a:ext cx="4319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Helvetica" pitchFamily="2" charset="0"/>
                </a:rPr>
                <a:t>01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05E8038-58D1-16D2-2CA2-37047CEB0606}"/>
                </a:ext>
              </a:extLst>
            </p:cNvPr>
            <p:cNvSpPr txBox="1"/>
            <p:nvPr/>
          </p:nvSpPr>
          <p:spPr>
            <a:xfrm>
              <a:off x="1817225" y="1889292"/>
              <a:ext cx="4319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Helvetica" pitchFamily="2" charset="0"/>
                </a:rPr>
                <a:t>02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6D620E6-AABE-549C-8479-830D2A1716AC}"/>
                </a:ext>
              </a:extLst>
            </p:cNvPr>
            <p:cNvSpPr txBox="1"/>
            <p:nvPr/>
          </p:nvSpPr>
          <p:spPr>
            <a:xfrm>
              <a:off x="2488557" y="3229827"/>
              <a:ext cx="4319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Helvetica" pitchFamily="2" charset="0"/>
                </a:rPr>
                <a:t>04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CD8C755-34ED-6DE8-DE43-9123260197A9}"/>
                </a:ext>
              </a:extLst>
            </p:cNvPr>
            <p:cNvSpPr txBox="1"/>
            <p:nvPr/>
          </p:nvSpPr>
          <p:spPr>
            <a:xfrm>
              <a:off x="2901949" y="4473114"/>
              <a:ext cx="4319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Helvetica" pitchFamily="2" charset="0"/>
                </a:rPr>
                <a:t>06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152F95E-A03F-9A46-5EB5-0C19F7FCE4E5}"/>
                </a:ext>
              </a:extLst>
            </p:cNvPr>
            <p:cNvSpPr txBox="1"/>
            <p:nvPr/>
          </p:nvSpPr>
          <p:spPr>
            <a:xfrm>
              <a:off x="6623767" y="2455003"/>
              <a:ext cx="37709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Helvetica" pitchFamily="2" charset="0"/>
                </a:rPr>
                <a:t>03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0AE8281-2EF8-85FC-BCFF-7F5CF5E91ADE}"/>
                </a:ext>
              </a:extLst>
            </p:cNvPr>
            <p:cNvSpPr txBox="1"/>
            <p:nvPr/>
          </p:nvSpPr>
          <p:spPr>
            <a:xfrm>
              <a:off x="6350997" y="3833050"/>
              <a:ext cx="3827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Helvetica" pitchFamily="2" charset="0"/>
                </a:rPr>
                <a:t>05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5285C7-AF9B-1CA0-AE1D-8B2E2DA1D533}"/>
                </a:ext>
              </a:extLst>
            </p:cNvPr>
            <p:cNvSpPr txBox="1"/>
            <p:nvPr/>
          </p:nvSpPr>
          <p:spPr>
            <a:xfrm>
              <a:off x="6047874" y="5118516"/>
              <a:ext cx="4319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latin typeface="Helvetica" pitchFamily="2" charset="0"/>
                </a:rPr>
                <a:t>07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1C094EF-350F-F030-EBC7-988BCAB6B2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4124" y="1259627"/>
              <a:ext cx="2510498" cy="27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025986D-3E24-91AA-64BE-8187CD3A5B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2229" y="2011315"/>
              <a:ext cx="2510498" cy="27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4D5126C-D665-3371-8C7F-A5C829C90B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5149" y="2636931"/>
              <a:ext cx="2036830" cy="27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FA5D7CB-80A6-1278-6270-29971F52C7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0971" y="3347628"/>
              <a:ext cx="1760731" cy="27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E4BC20F-9A8C-B38A-97DE-268AE0C2C9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08159" y="4007727"/>
              <a:ext cx="1760731" cy="274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E7EF014-F9EB-9E8E-1D3E-930F6FF84A03}"/>
                </a:ext>
              </a:extLst>
            </p:cNvPr>
            <p:cNvCxnSpPr>
              <a:cxnSpLocks/>
            </p:cNvCxnSpPr>
            <p:nvPr/>
          </p:nvCxnSpPr>
          <p:spPr>
            <a:xfrm>
              <a:off x="3234215" y="4625535"/>
              <a:ext cx="133748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464AFE-F7E4-1162-BD6B-D5784D83B3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3434" y="5272073"/>
              <a:ext cx="1497715" cy="184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B318EA1-820B-13F4-F445-F6FEECE56C88}"/>
              </a:ext>
            </a:extLst>
          </p:cNvPr>
          <p:cNvSpPr txBox="1"/>
          <p:nvPr/>
        </p:nvSpPr>
        <p:spPr>
          <a:xfrm>
            <a:off x="325120" y="135942"/>
            <a:ext cx="873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673AB7"/>
                </a:solidFill>
                <a:latin typeface="Arial Narrow" panose="020B0606020202030204" pitchFamily="34" charset="0"/>
              </a:rPr>
              <a:t>Strategic Actions for Improving Patient Coverage</a:t>
            </a:r>
            <a:endParaRPr lang="en-IN" sz="3600" b="1" dirty="0">
              <a:solidFill>
                <a:srgbClr val="673AB7"/>
              </a:solidFill>
              <a:latin typeface="Arial Narrow" panose="020B060602020203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E6F8C96-E1CF-DFD8-D82F-F431E169D20A}"/>
              </a:ext>
            </a:extLst>
          </p:cNvPr>
          <p:cNvSpPr/>
          <p:nvPr/>
        </p:nvSpPr>
        <p:spPr>
          <a:xfrm>
            <a:off x="0" y="6685280"/>
            <a:ext cx="9144000" cy="172720"/>
          </a:xfrm>
          <a:prstGeom prst="rect">
            <a:avLst/>
          </a:prstGeom>
          <a:solidFill>
            <a:srgbClr val="673A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BD9DE1-6D8D-ED0E-C867-85315436AF7F}"/>
              </a:ext>
            </a:extLst>
          </p:cNvPr>
          <p:cNvSpPr txBox="1"/>
          <p:nvPr/>
        </p:nvSpPr>
        <p:spPr>
          <a:xfrm>
            <a:off x="0" y="1643351"/>
            <a:ext cx="1817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 Narrow" panose="020B0606020202030204" pitchFamily="34" charset="0"/>
              </a:rPr>
              <a:t>Implementing educational programs on insurance choices</a:t>
            </a:r>
            <a:r>
              <a:rPr lang="en-US" sz="1600" dirty="0">
                <a:latin typeface="Helvetica" pitchFamily="2" charset="0"/>
              </a:rPr>
              <a:t>.</a:t>
            </a:r>
            <a:r>
              <a:rPr lang="en-IN" sz="1200" dirty="0">
                <a:latin typeface="Helvetica" pitchFamily="2" charset="0"/>
              </a:rPr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385845-5F6E-4D89-F68D-710E98E23153}"/>
              </a:ext>
            </a:extLst>
          </p:cNvPr>
          <p:cNvSpPr txBox="1"/>
          <p:nvPr/>
        </p:nvSpPr>
        <p:spPr>
          <a:xfrm>
            <a:off x="7315199" y="939792"/>
            <a:ext cx="21509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Narrow" panose="020B0606020202030204" pitchFamily="34" charset="0"/>
              </a:rPr>
              <a:t>Strengthening partnerships with reliable insurance providers.</a:t>
            </a:r>
            <a:endParaRPr lang="en-IN" sz="1400" dirty="0">
              <a:latin typeface="Arial Narrow" panose="020B0606020202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10A160-5A6E-78B3-33C6-7E4E7531F8E8}"/>
              </a:ext>
            </a:extLst>
          </p:cNvPr>
          <p:cNvSpPr txBox="1"/>
          <p:nvPr/>
        </p:nvSpPr>
        <p:spPr>
          <a:xfrm>
            <a:off x="7106859" y="2281507"/>
            <a:ext cx="21509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Narrow" panose="020B0606020202030204" pitchFamily="34" charset="0"/>
              </a:rPr>
              <a:t>Preparing financial assistance programs for uninsured patients.</a:t>
            </a:r>
            <a:endParaRPr lang="en-IN" sz="1400" dirty="0">
              <a:latin typeface="Arial Narrow" panose="020B0606020202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644DE9-98B1-F89F-56FB-B2F31BE0BB62}"/>
              </a:ext>
            </a:extLst>
          </p:cNvPr>
          <p:cNvSpPr txBox="1"/>
          <p:nvPr/>
        </p:nvSpPr>
        <p:spPr>
          <a:xfrm>
            <a:off x="6810832" y="3714450"/>
            <a:ext cx="21509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Narrow" panose="020B0606020202030204" pitchFamily="34" charset="0"/>
              </a:rPr>
              <a:t>Promoting coverage options among eligible patients.</a:t>
            </a:r>
            <a:endParaRPr lang="en-IN" sz="1400" dirty="0">
              <a:latin typeface="Arial Narrow" panose="020B0606020202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1DDBB2-F71F-4084-BF4A-BE7B219AFEE9}"/>
              </a:ext>
            </a:extLst>
          </p:cNvPr>
          <p:cNvSpPr txBox="1"/>
          <p:nvPr/>
        </p:nvSpPr>
        <p:spPr>
          <a:xfrm>
            <a:off x="6542361" y="4973691"/>
            <a:ext cx="21509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Narrow" panose="020B0606020202030204" pitchFamily="34" charset="0"/>
              </a:rPr>
              <a:t>Leveraging data analytics to identify coverage gaps</a:t>
            </a:r>
            <a:endParaRPr lang="en-IN" sz="1400" dirty="0">
              <a:latin typeface="Arial Narrow" panose="020B0606020202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73D11F-0D06-5D65-397D-81E026AD56A9}"/>
              </a:ext>
            </a:extLst>
          </p:cNvPr>
          <p:cNvSpPr txBox="1"/>
          <p:nvPr/>
        </p:nvSpPr>
        <p:spPr>
          <a:xfrm>
            <a:off x="1" y="3044279"/>
            <a:ext cx="24178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 Narrow" panose="020B0606020202030204" pitchFamily="34" charset="0"/>
              </a:rPr>
              <a:t>Renegotiating reimbursement agreements with low-coverage insurers</a:t>
            </a:r>
            <a:r>
              <a:rPr lang="en-IN" sz="1200" dirty="0">
                <a:latin typeface="Helvetica" pitchFamily="2" charset="0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B3CACE-6087-67C0-FE71-8BB542365068}"/>
              </a:ext>
            </a:extLst>
          </p:cNvPr>
          <p:cNvSpPr txBox="1"/>
          <p:nvPr/>
        </p:nvSpPr>
        <p:spPr>
          <a:xfrm>
            <a:off x="450676" y="4343332"/>
            <a:ext cx="24512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 Narrow" panose="020B0606020202030204" pitchFamily="34" charset="0"/>
              </a:rPr>
              <a:t> Expanding preventive care offerings to enhance appointments.</a:t>
            </a:r>
            <a:r>
              <a:rPr lang="en-IN" sz="1200" dirty="0">
                <a:latin typeface="Helvetica" pitchFamily="2" charset="0"/>
              </a:rPr>
              <a:t>.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5F3E845-CEE7-71BB-2C1B-4B7AFBB104C7}"/>
              </a:ext>
            </a:extLst>
          </p:cNvPr>
          <p:cNvSpPr/>
          <p:nvPr/>
        </p:nvSpPr>
        <p:spPr>
          <a:xfrm>
            <a:off x="2974750" y="5661633"/>
            <a:ext cx="282666" cy="307273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D664424-7EE6-6204-820F-B6210C9A55B7}"/>
              </a:ext>
            </a:extLst>
          </p:cNvPr>
          <p:cNvCxnSpPr>
            <a:cxnSpLocks/>
          </p:cNvCxnSpPr>
          <p:nvPr/>
        </p:nvCxnSpPr>
        <p:spPr>
          <a:xfrm>
            <a:off x="3257416" y="5825629"/>
            <a:ext cx="13374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E518FD5-22BB-AB06-3E53-A938011B1501}"/>
              </a:ext>
            </a:extLst>
          </p:cNvPr>
          <p:cNvSpPr txBox="1"/>
          <p:nvPr/>
        </p:nvSpPr>
        <p:spPr>
          <a:xfrm>
            <a:off x="2945242" y="5671587"/>
            <a:ext cx="4319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Helvetica" pitchFamily="2" charset="0"/>
              </a:rPr>
              <a:t>08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EA42DE-B0D5-8FCD-926E-72AC27954E3A}"/>
              </a:ext>
            </a:extLst>
          </p:cNvPr>
          <p:cNvSpPr txBox="1"/>
          <p:nvPr/>
        </p:nvSpPr>
        <p:spPr>
          <a:xfrm>
            <a:off x="570240" y="5532103"/>
            <a:ext cx="2451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 Narrow" panose="020B0606020202030204" pitchFamily="34" charset="0"/>
              </a:rPr>
              <a:t> Monitoring patient feedback to improve services and coverage</a:t>
            </a:r>
            <a:r>
              <a:rPr lang="en-IN" sz="1200" dirty="0">
                <a:latin typeface="Helvetica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9720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Medium shot people working together">
            <a:extLst>
              <a:ext uri="{FF2B5EF4-FFF2-40B4-BE49-F238E27FC236}">
                <a16:creationId xmlns:a16="http://schemas.microsoft.com/office/drawing/2014/main" id="{76319F04-C3B5-C404-7425-B6D12E487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0" cy="342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339014-CC03-524A-8230-8F35AAF1AD49}"/>
              </a:ext>
            </a:extLst>
          </p:cNvPr>
          <p:cNvSpPr txBox="1"/>
          <p:nvPr/>
        </p:nvSpPr>
        <p:spPr>
          <a:xfrm>
            <a:off x="4572000" y="135942"/>
            <a:ext cx="4490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673AB7"/>
                </a:solidFill>
                <a:latin typeface="Arial Narrow" panose="020B0606020202030204" pitchFamily="34" charset="0"/>
              </a:rPr>
              <a:t>Conclusion and Future Directions</a:t>
            </a:r>
            <a:endParaRPr lang="en-IN" sz="3600" b="1" dirty="0">
              <a:solidFill>
                <a:srgbClr val="673AB7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08F71C-874F-9991-ECC1-8AC53CF23C0F}"/>
              </a:ext>
            </a:extLst>
          </p:cNvPr>
          <p:cNvSpPr/>
          <p:nvPr/>
        </p:nvSpPr>
        <p:spPr>
          <a:xfrm>
            <a:off x="0" y="6685280"/>
            <a:ext cx="9144000" cy="172720"/>
          </a:xfrm>
          <a:prstGeom prst="rect">
            <a:avLst/>
          </a:prstGeom>
          <a:solidFill>
            <a:srgbClr val="673A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8F537FC-BB44-58F2-1CB2-3DF92E89A60B}"/>
              </a:ext>
            </a:extLst>
          </p:cNvPr>
          <p:cNvGrpSpPr/>
          <p:nvPr/>
        </p:nvGrpSpPr>
        <p:grpSpPr>
          <a:xfrm>
            <a:off x="5224780" y="1351619"/>
            <a:ext cx="3891280" cy="773025"/>
            <a:chOff x="5171440" y="1663364"/>
            <a:chExt cx="3891280" cy="77302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5F2A777-2F66-1C68-E799-7A28157C413E}"/>
                </a:ext>
              </a:extLst>
            </p:cNvPr>
            <p:cNvSpPr txBox="1"/>
            <p:nvPr/>
          </p:nvSpPr>
          <p:spPr>
            <a:xfrm>
              <a:off x="5648960" y="1663364"/>
              <a:ext cx="341376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Growing Admissions</a:t>
              </a:r>
            </a:p>
            <a:p>
              <a:r>
                <a:rPr lang="en-US" sz="1200" dirty="0">
                  <a:latin typeface="Arial Narrow" panose="020B0606020202030204" pitchFamily="34" charset="0"/>
                </a:rPr>
                <a:t> Patient admissions increased significantly, indicating rising demand for hospital services.. </a:t>
              </a:r>
              <a:endParaRPr lang="en-IN" sz="1200" dirty="0">
                <a:latin typeface="Arial Narrow" panose="020B0606020202030204" pitchFamily="3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CBBCAF9-FCFC-1A37-566A-76819B35ABAE}"/>
                </a:ext>
              </a:extLst>
            </p:cNvPr>
            <p:cNvGrpSpPr/>
            <p:nvPr/>
          </p:nvGrpSpPr>
          <p:grpSpPr>
            <a:xfrm>
              <a:off x="5171440" y="1906001"/>
              <a:ext cx="530860" cy="530388"/>
              <a:chOff x="0" y="1341120"/>
              <a:chExt cx="530860" cy="530388"/>
            </a:xfrm>
          </p:grpSpPr>
          <p:sp>
            <p:nvSpPr>
              <p:cNvPr id="8" name="Flowchart: Connector 7">
                <a:extLst>
                  <a:ext uri="{FF2B5EF4-FFF2-40B4-BE49-F238E27FC236}">
                    <a16:creationId xmlns:a16="http://schemas.microsoft.com/office/drawing/2014/main" id="{2F9B84AF-A0E5-7C78-3954-2FA6C01D30DA}"/>
                  </a:ext>
                </a:extLst>
              </p:cNvPr>
              <p:cNvSpPr/>
              <p:nvPr/>
            </p:nvSpPr>
            <p:spPr>
              <a:xfrm>
                <a:off x="0" y="1341120"/>
                <a:ext cx="477520" cy="530388"/>
              </a:xfrm>
              <a:prstGeom prst="flowChartConnector">
                <a:avLst/>
              </a:prstGeom>
              <a:solidFill>
                <a:srgbClr val="673AB7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DCC127A-BE2D-3CAA-44DE-C8B4C9600618}"/>
                  </a:ext>
                </a:extLst>
              </p:cNvPr>
              <p:cNvSpPr txBox="1"/>
              <p:nvPr/>
            </p:nvSpPr>
            <p:spPr>
              <a:xfrm>
                <a:off x="53340" y="1425118"/>
                <a:ext cx="477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01</a:t>
                </a:r>
              </a:p>
            </p:txBody>
          </p:sp>
        </p:grp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DAAFC71-FDA6-5A33-6174-FBBD2AA22FB7}"/>
              </a:ext>
            </a:extLst>
          </p:cNvPr>
          <p:cNvSpPr/>
          <p:nvPr/>
        </p:nvSpPr>
        <p:spPr>
          <a:xfrm>
            <a:off x="0" y="3429000"/>
            <a:ext cx="9144000" cy="3256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4F51346-A47C-9484-BF9F-AF8FA1AC7572}"/>
              </a:ext>
            </a:extLst>
          </p:cNvPr>
          <p:cNvGrpSpPr/>
          <p:nvPr/>
        </p:nvGrpSpPr>
        <p:grpSpPr>
          <a:xfrm>
            <a:off x="662940" y="4517009"/>
            <a:ext cx="3144520" cy="1015663"/>
            <a:chOff x="5171440" y="1663364"/>
            <a:chExt cx="3144520" cy="101566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4B96B40-A96B-2B0B-A0B5-01D5DE439BBA}"/>
                </a:ext>
              </a:extLst>
            </p:cNvPr>
            <p:cNvSpPr txBox="1"/>
            <p:nvPr/>
          </p:nvSpPr>
          <p:spPr>
            <a:xfrm>
              <a:off x="5648960" y="1663364"/>
              <a:ext cx="26670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Cost Management Opportunities</a:t>
              </a:r>
            </a:p>
            <a:p>
              <a:r>
                <a:rPr lang="en-US" sz="1200" dirty="0">
                  <a:latin typeface="Arial Narrow" panose="020B0606020202030204" pitchFamily="34" charset="0"/>
                </a:rPr>
                <a:t> Slight reductions in visit costs highlight areas for further operational efficiency.</a:t>
              </a:r>
              <a:endParaRPr lang="en-IN" sz="1200" dirty="0">
                <a:latin typeface="Arial Narrow" panose="020B0606020202030204" pitchFamily="34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10A95CB-9A33-8CEA-06D9-1750BFB54936}"/>
                </a:ext>
              </a:extLst>
            </p:cNvPr>
            <p:cNvGrpSpPr/>
            <p:nvPr/>
          </p:nvGrpSpPr>
          <p:grpSpPr>
            <a:xfrm>
              <a:off x="5171440" y="1906001"/>
              <a:ext cx="530860" cy="530388"/>
              <a:chOff x="0" y="1341120"/>
              <a:chExt cx="530860" cy="530388"/>
            </a:xfrm>
          </p:grpSpPr>
          <p:sp>
            <p:nvSpPr>
              <p:cNvPr id="20" name="Flowchart: Connector 19">
                <a:extLst>
                  <a:ext uri="{FF2B5EF4-FFF2-40B4-BE49-F238E27FC236}">
                    <a16:creationId xmlns:a16="http://schemas.microsoft.com/office/drawing/2014/main" id="{E687F111-A18C-4FE1-DE42-0A461824264E}"/>
                  </a:ext>
                </a:extLst>
              </p:cNvPr>
              <p:cNvSpPr/>
              <p:nvPr/>
            </p:nvSpPr>
            <p:spPr>
              <a:xfrm>
                <a:off x="0" y="1341120"/>
                <a:ext cx="477520" cy="530388"/>
              </a:xfrm>
              <a:prstGeom prst="flowChartConnector">
                <a:avLst/>
              </a:prstGeom>
              <a:solidFill>
                <a:srgbClr val="673AB7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45CC3E0-08A2-DC45-2C92-C9AD3AD25584}"/>
                  </a:ext>
                </a:extLst>
              </p:cNvPr>
              <p:cNvSpPr txBox="1"/>
              <p:nvPr/>
            </p:nvSpPr>
            <p:spPr>
              <a:xfrm>
                <a:off x="53340" y="1425118"/>
                <a:ext cx="477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03</a:t>
                </a:r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31F948A-86A9-3A95-4303-02120A16D27C}"/>
              </a:ext>
            </a:extLst>
          </p:cNvPr>
          <p:cNvGrpSpPr/>
          <p:nvPr/>
        </p:nvGrpSpPr>
        <p:grpSpPr>
          <a:xfrm>
            <a:off x="5140960" y="4522984"/>
            <a:ext cx="3891280" cy="773025"/>
            <a:chOff x="5171440" y="1663364"/>
            <a:chExt cx="3891280" cy="77302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533E1C1-B804-1448-58ED-29A1F7F8C0CE}"/>
                </a:ext>
              </a:extLst>
            </p:cNvPr>
            <p:cNvSpPr txBox="1"/>
            <p:nvPr/>
          </p:nvSpPr>
          <p:spPr>
            <a:xfrm>
              <a:off x="5648960" y="1663364"/>
              <a:ext cx="341376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Insurance Coverage Gaps</a:t>
              </a:r>
            </a:p>
            <a:p>
              <a:r>
                <a:rPr lang="en-US" sz="1200" dirty="0">
                  <a:latin typeface="Arial Narrow" panose="020B0606020202030204" pitchFamily="34" charset="0"/>
                </a:rPr>
                <a:t> Low insurance coverage rates present financial burdens that require strategic interventions.</a:t>
              </a:r>
              <a:endParaRPr lang="en-IN" sz="1200" dirty="0">
                <a:latin typeface="Arial Narrow" panose="020B0606020202030204" pitchFamily="34" charset="0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CE239F7-7D9C-3FF7-41C0-4E155D79CC1A}"/>
                </a:ext>
              </a:extLst>
            </p:cNvPr>
            <p:cNvGrpSpPr/>
            <p:nvPr/>
          </p:nvGrpSpPr>
          <p:grpSpPr>
            <a:xfrm>
              <a:off x="5171440" y="1906001"/>
              <a:ext cx="530860" cy="530388"/>
              <a:chOff x="0" y="1341120"/>
              <a:chExt cx="530860" cy="530388"/>
            </a:xfrm>
          </p:grpSpPr>
          <p:sp>
            <p:nvSpPr>
              <p:cNvPr id="25" name="Flowchart: Connector 24">
                <a:extLst>
                  <a:ext uri="{FF2B5EF4-FFF2-40B4-BE49-F238E27FC236}">
                    <a16:creationId xmlns:a16="http://schemas.microsoft.com/office/drawing/2014/main" id="{A92F2ACE-F95D-8045-C457-0DBD8537703E}"/>
                  </a:ext>
                </a:extLst>
              </p:cNvPr>
              <p:cNvSpPr/>
              <p:nvPr/>
            </p:nvSpPr>
            <p:spPr>
              <a:xfrm>
                <a:off x="0" y="1341120"/>
                <a:ext cx="477520" cy="530388"/>
              </a:xfrm>
              <a:prstGeom prst="flowChartConnector">
                <a:avLst/>
              </a:prstGeom>
              <a:solidFill>
                <a:srgbClr val="673AB7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EB4FAF6-D242-60A4-FCE1-A548E9053B43}"/>
                  </a:ext>
                </a:extLst>
              </p:cNvPr>
              <p:cNvSpPr txBox="1"/>
              <p:nvPr/>
            </p:nvSpPr>
            <p:spPr>
              <a:xfrm>
                <a:off x="53340" y="1425118"/>
                <a:ext cx="477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04</a:t>
                </a:r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6AAE624-AA38-A596-A2E3-A58D8F47E123}"/>
              </a:ext>
            </a:extLst>
          </p:cNvPr>
          <p:cNvGrpSpPr/>
          <p:nvPr/>
        </p:nvGrpSpPr>
        <p:grpSpPr>
          <a:xfrm>
            <a:off x="5209540" y="2807967"/>
            <a:ext cx="3891280" cy="773025"/>
            <a:chOff x="5171440" y="1663364"/>
            <a:chExt cx="3891280" cy="77302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886E583-1E41-0DAD-9C89-F4B7FE756F94}"/>
                </a:ext>
              </a:extLst>
            </p:cNvPr>
            <p:cNvSpPr txBox="1"/>
            <p:nvPr/>
          </p:nvSpPr>
          <p:spPr>
            <a:xfrm>
              <a:off x="5648960" y="1663364"/>
              <a:ext cx="341376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rgbClr val="673AB7"/>
                  </a:solidFill>
                  <a:latin typeface="Arial Narrow" panose="020B0606020202030204" pitchFamily="34" charset="0"/>
                </a:rPr>
                <a:t>High Readmission Challenges</a:t>
              </a:r>
            </a:p>
            <a:p>
              <a:r>
                <a:rPr lang="en-US" sz="1200" dirty="0">
                  <a:latin typeface="Arial Narrow" panose="020B0606020202030204" pitchFamily="34" charset="0"/>
                </a:rPr>
                <a:t>An alarming readmission rate points to potential issues in patient care efficacy.</a:t>
              </a:r>
              <a:endParaRPr lang="en-IN" sz="1200" dirty="0">
                <a:latin typeface="Arial Narrow" panose="020B0606020202030204" pitchFamily="34" charset="0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6D954A6-02F0-72A7-12DE-2A375C9DAF26}"/>
                </a:ext>
              </a:extLst>
            </p:cNvPr>
            <p:cNvGrpSpPr/>
            <p:nvPr/>
          </p:nvGrpSpPr>
          <p:grpSpPr>
            <a:xfrm>
              <a:off x="5171440" y="1906001"/>
              <a:ext cx="530860" cy="530388"/>
              <a:chOff x="0" y="1341120"/>
              <a:chExt cx="530860" cy="530388"/>
            </a:xfrm>
          </p:grpSpPr>
          <p:sp>
            <p:nvSpPr>
              <p:cNvPr id="40" name="Flowchart: Connector 39">
                <a:extLst>
                  <a:ext uri="{FF2B5EF4-FFF2-40B4-BE49-F238E27FC236}">
                    <a16:creationId xmlns:a16="http://schemas.microsoft.com/office/drawing/2014/main" id="{D0708D45-919F-9F74-5803-646ADEFFB1E6}"/>
                  </a:ext>
                </a:extLst>
              </p:cNvPr>
              <p:cNvSpPr/>
              <p:nvPr/>
            </p:nvSpPr>
            <p:spPr>
              <a:xfrm>
                <a:off x="0" y="1341120"/>
                <a:ext cx="477520" cy="530388"/>
              </a:xfrm>
              <a:prstGeom prst="flowChartConnector">
                <a:avLst/>
              </a:prstGeom>
              <a:solidFill>
                <a:srgbClr val="673AB7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E108213-9945-742A-ECBE-BAF7B7A8A139}"/>
                  </a:ext>
                </a:extLst>
              </p:cNvPr>
              <p:cNvSpPr txBox="1"/>
              <p:nvPr/>
            </p:nvSpPr>
            <p:spPr>
              <a:xfrm>
                <a:off x="53340" y="1425118"/>
                <a:ext cx="477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02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836422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3A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Physician man presenting brain radiography analyzing medical expertise working in conference meeting room">
            <a:extLst>
              <a:ext uri="{FF2B5EF4-FFF2-40B4-BE49-F238E27FC236}">
                <a16:creationId xmlns:a16="http://schemas.microsoft.com/office/drawing/2014/main" id="{8509C377-5886-9621-D032-805160D14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" y="680720"/>
            <a:ext cx="5130800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237183-AE5B-5491-FE70-30B036958C12}"/>
              </a:ext>
            </a:extLst>
          </p:cNvPr>
          <p:cNvSpPr txBox="1"/>
          <p:nvPr/>
        </p:nvSpPr>
        <p:spPr>
          <a:xfrm>
            <a:off x="5232400" y="2774573"/>
            <a:ext cx="4490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Thank you</a:t>
            </a:r>
            <a:endParaRPr lang="en-IN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738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Objective: Provide MGH's executive team with insights on hospital performance.</a:t>
            </a:r>
          </a:p>
          <a:p>
            <a:r>
              <a:t>Dataset: 1,000 synthetic patient records (2011-2022) covering demographics, insurance, encounters, and procedures.</a:t>
            </a:r>
          </a:p>
          <a:p>
            <a:r>
              <a:t>Key KPIs: Admissions, Length of Stay (LOS), Cost per Visit, Insurance Coverage.</a:t>
            </a:r>
          </a:p>
          <a:p>
            <a:r>
              <a:t>Goal: Scalable dashboard for future data integration.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**Admissions &amp; Readmissions**: Trends over time.</a:t>
            </a:r>
          </a:p>
          <a:p>
            <a:r>
              <a:t>2. **Length of Stay (LOS)**: Average days per patient encounter.</a:t>
            </a:r>
          </a:p>
          <a:p>
            <a:r>
              <a:t>3. **Cost per Visit**: Financial impact analysis.</a:t>
            </a:r>
          </a:p>
          <a:p>
            <a:r>
              <a:t>4. **Insurance Coverage Analysis**: No insurance vs. low vs. good coverage.</a:t>
            </a:r>
          </a:p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Admissions &amp; Readmissions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- **Stable 6-month rolling average of 180-205 admissions** (excluding special events like COVID-19 vaccines, follow-ups, and telemedicine).</a:t>
            </a:r>
          </a:p>
          <a:p>
            <a:r>
              <a:t>- Readmission rates identified based on admission type.</a:t>
            </a:r>
          </a:p>
          <a:p>
            <a:r>
              <a:t>- Key Finding: Significant proportion of encounters involve elderly patients (78-90 years).</a:t>
            </a:r>
          </a:p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Length of Stay (LOS)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**LOS varies by procedure type and insurance coverage.**</a:t>
            </a:r>
          </a:p>
          <a:p>
            <a:r>
              <a:t>- Admissions categorized by days stayed.</a:t>
            </a:r>
          </a:p>
          <a:p>
            <a:r>
              <a:t>- Insight: Longer LOS for complex cases with insufficient insurance coverage.</a:t>
            </a:r>
          </a:p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per Visit &amp; Financial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**High-cost procedures identified:**</a:t>
            </a:r>
          </a:p>
          <a:p>
            <a:r>
              <a:t>  - Atrial Fibrillation ($22,000 per case, 75% uninsured)</a:t>
            </a:r>
          </a:p>
          <a:p>
            <a:r>
              <a:t>  - Common Pregnancy ($3,500 per case, 39% uninsured, 21% low insurance)</a:t>
            </a:r>
          </a:p>
          <a:p>
            <a:r>
              <a:t>- Key Risk: High uninsured rates for expensive procedures create financial strain.</a:t>
            </a:r>
          </a:p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Insurance Coverage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- **Majority of high-cost procedures lack insurance coverage.**</a:t>
            </a:r>
          </a:p>
          <a:p>
            <a:r>
              <a:t>- **Breakdown by category:**</a:t>
            </a:r>
          </a:p>
          <a:p>
            <a:r>
              <a:t>  - **49.78% of Atrial Fibrillation cases** = No Insurance</a:t>
            </a:r>
          </a:p>
          <a:p>
            <a:r>
              <a:t>  - **20.12% of Common Pregnancy cases** = No Insurance</a:t>
            </a:r>
          </a:p>
          <a:p>
            <a:r>
              <a:t>  - Low coverage increases out-of-pocket expenses and financial risk.</a:t>
            </a:r>
          </a:p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1. **Patient Education on Insurance Options**: Encourage strong insurance plans for high-risk procedures.</a:t>
            </a:r>
          </a:p>
          <a:p>
            <a:r>
              <a:t>2. **Expand Telemedicine for Elderly Patients**: Reduce hospital visits and improve access.</a:t>
            </a:r>
          </a:p>
          <a:p>
            <a:r>
              <a:t>3. **Enhance Geriatric Care Programs**: Specialized outpatient care for patients aged 78-90.</a:t>
            </a:r>
          </a:p>
          <a:p>
            <a:r>
              <a:t>4. **Financial Risk Management**: Address uninsured procedure costs through alternative funding options.</a:t>
            </a:r>
          </a:p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- MGH maintains stable admission rates but must address uninsured high-cost procedures.</a:t>
            </a:r>
          </a:p>
          <a:p>
            <a:r>
              <a:t>- A significant proportion of encounters come from elderly patients, requiring tailored care.</a:t>
            </a:r>
          </a:p>
          <a:p>
            <a:r>
              <a:t>- Expanding telemedicine and financial assistance programs can mitigate financial risks.</a:t>
            </a:r>
          </a:p>
          <a:p>
            <a:r>
              <a:t>- The dashboard can scale with future data for ongoing strategic insights.</a:t>
            </a:r>
          </a:p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1402</Words>
  <Application>Microsoft Office PowerPoint</Application>
  <PresentationFormat>On-screen Show (4:3)</PresentationFormat>
  <Paragraphs>224</Paragraphs>
  <Slides>29</Slides>
  <Notes>0</Notes>
  <HiddenSlides>8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Arial Narrow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Overview &amp; Objectives</vt:lpstr>
      <vt:lpstr>Key Performance Indicators (KPIs)</vt:lpstr>
      <vt:lpstr>Admissions &amp; Readmissions Trends</vt:lpstr>
      <vt:lpstr>Length of Stay (LOS) Analysis</vt:lpstr>
      <vt:lpstr>Cost per Visit &amp; Financial Analysis</vt:lpstr>
      <vt:lpstr>Insurance Coverage Analysis</vt:lpstr>
      <vt:lpstr>Strategic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anshika porwal</dc:creator>
  <cp:keywords/>
  <dc:description>generated using python-pptx</dc:description>
  <cp:lastModifiedBy>anshika porwal</cp:lastModifiedBy>
  <cp:revision>133</cp:revision>
  <dcterms:created xsi:type="dcterms:W3CDTF">2013-01-27T09:14:16Z</dcterms:created>
  <dcterms:modified xsi:type="dcterms:W3CDTF">2025-02-09T12:37:29Z</dcterms:modified>
  <cp:category/>
</cp:coreProperties>
</file>